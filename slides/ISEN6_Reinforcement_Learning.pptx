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2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2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2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showMasterSp="0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3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24" name="Google Shape;124;p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" name="Google Shape;125;p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7" name="Google Shape;127;p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8" name="Google Shape;128;p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" name="Google Shape;130;p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0" name="Google Shape;140;p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1" name="Google Shape;141;p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6" name="Google Shape;146;p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7" name="Google Shape;147;p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8" name="Google Shape;148;p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9" name="Google Shape;149;p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0" name="Google Shape;150;p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2" name="Google Shape;152;p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3" name="Google Shape;153;p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57" name="Google Shape;157;p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58" name="Google Shape;158;p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3" name="Google Shape;163;p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64" name="Google Shape;164;p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5" name="Google Shape;165;p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6" name="Google Shape;166;p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7" name="Google Shape;167;p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68" name="Google Shape;168;p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69" name="Google Shape;169;p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74" name="Google Shape;174;p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0" name="Google Shape;180;p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85" name="Google Shape;185;p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" name="Google Shape;192;p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5" name="Google Shape;195;p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1" name="Google Shape;201;p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02" name="Google Shape;202;p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4" name="Google Shape;204;p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7" name="Google Shape;207;p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8" name="Google Shape;208;p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9" name="Google Shape;209;p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0" name="Google Shape;210;p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1" name="Google Shape;211;p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2" name="Google Shape;212;p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3" name="Google Shape;213;p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4" name="Google Shape;214;p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5" name="Google Shape;215;p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6" name="Google Shape;216;p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18" name="Google Shape;218;p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19" name="Google Shape;219;p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2" name="Google Shape;222;p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3" name="Google Shape;223;p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4" name="Google Shape;224;p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5" name="Google Shape;225;p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0" name="Google Shape;230;p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3" name="Google Shape;233;p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4" name="Google Shape;234;p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5" name="Google Shape;235;p5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237" name="Google Shape;237;p5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1" name="Google Shape;241;p6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" name="Google Shape;242;p6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6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7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8" name="Google Shape;248;p7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9" name="Google Shape;249;p7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50" name="Google Shape;250;p7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1" name="Google Shape;251;p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 type="titleOnly">
  <p:cSld name="TITLE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9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9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9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9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9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9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9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9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9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9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9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9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9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9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9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9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9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9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9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9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9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9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9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9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9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9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9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9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9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9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9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9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9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9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9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9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9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9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9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9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9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9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9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9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9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9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9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9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9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9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9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9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9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9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10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0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0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Espace réservé vide pour ajouter une image. Cliquez sur l’espace réservé et sélectionnez l’image à ajouter." id="374" name="Google Shape;374;p10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0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1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2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2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5098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43E27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1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p14:dur="1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 txBox="1"/>
          <p:nvPr>
            <p:ph idx="1" type="subTitle"/>
          </p:nvPr>
        </p:nvSpPr>
        <p:spPr>
          <a:xfrm>
            <a:off x="1033272" y="5432564"/>
            <a:ext cx="10030968" cy="77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fr-FR" sz="3200"/>
              <a:t>Session 6: Reinforcement Learning</a:t>
            </a:r>
            <a:endParaRPr/>
          </a:p>
        </p:txBody>
      </p:sp>
      <p:sp>
        <p:nvSpPr>
          <p:cNvPr id="394" name="Google Shape;394;p13"/>
          <p:cNvSpPr txBox="1"/>
          <p:nvPr/>
        </p:nvSpPr>
        <p:spPr>
          <a:xfrm>
            <a:off x="1293845" y="4524385"/>
            <a:ext cx="9604310" cy="770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600"/>
              <a:buFont typeface="Arial"/>
              <a:buNone/>
            </a:pPr>
            <a:r>
              <a:rPr b="1" i="0" lang="fr-FR" sz="36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rPr>
              <a:t>Deep Artificial Intelligence in Healthcare</a:t>
            </a:r>
            <a:endParaRPr/>
          </a:p>
        </p:txBody>
      </p:sp>
      <p:pic>
        <p:nvPicPr>
          <p:cNvPr id="395" name="Google Shape;3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1280" y="326446"/>
            <a:ext cx="7059930" cy="406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"/>
          <p:cNvSpPr txBox="1"/>
          <p:nvPr/>
        </p:nvSpPr>
        <p:spPr>
          <a:xfrm>
            <a:off x="3512265" y="159656"/>
            <a:ext cx="577995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Reminder : Three "classes" of machine learning problem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288528" y="977519"/>
            <a:ext cx="1114147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000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UcParenR"/>
            </a:pPr>
            <a:r>
              <a:rPr b="1" lang="fr-FR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Supervised Learning</a:t>
            </a:r>
            <a:endParaRPr/>
          </a:p>
          <a:p>
            <a:pPr indent="-400050" lvl="0" marL="4000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UcParenR"/>
            </a:pPr>
            <a:r>
              <a:rPr b="1" lang="fr-FR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Unsupervised 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III) Reinforcement learning: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autonomous agent acts in an environment and receives a </a:t>
            </a: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reward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(positive or negative) after each action. Its objective is to discover the policy - i.e. the rule indicating, for each state, the action to be taken - that maximizes these rewards, without knowing in advance the "rule" that determines these rewards.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explicit labels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There's no database indicating what the right action would have been. The only feedback comes from the reward.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direct gradient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impossible to know immediately what to adjust; the agent progresses by trial and error.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Exploration/exploitation dilemma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fr-FR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new actions to discover better strategies, while </a:t>
            </a:r>
            <a:r>
              <a:rPr lang="fr-FR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exploiting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what's already working.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Generally iterative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agent executes a sequence of actions, receives a reward at each step. The policy is refined to </a:t>
            </a: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maximize the expectation of the sum of rewards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time 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558" y="945538"/>
            <a:ext cx="1165677" cy="205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558" y="3322105"/>
            <a:ext cx="1504615" cy="945207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5"/>
          <p:cNvSpPr txBox="1"/>
          <p:nvPr/>
        </p:nvSpPr>
        <p:spPr>
          <a:xfrm>
            <a:off x="4475285" y="254977"/>
            <a:ext cx="45104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409" name="Google Shape;409;p15"/>
          <p:cNvSpPr txBox="1"/>
          <p:nvPr/>
        </p:nvSpPr>
        <p:spPr>
          <a:xfrm>
            <a:off x="2270458" y="1106870"/>
            <a:ext cx="40510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Playing games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5"/>
          <p:cNvSpPr txBox="1"/>
          <p:nvPr/>
        </p:nvSpPr>
        <p:spPr>
          <a:xfrm>
            <a:off x="2355796" y="2352390"/>
            <a:ext cx="37226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Robotic control (including exoskeletons, surgical assistant robots)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 txBox="1"/>
          <p:nvPr/>
        </p:nvSpPr>
        <p:spPr>
          <a:xfrm>
            <a:off x="2449751" y="3569144"/>
            <a:ext cx="40510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 a car</a:t>
            </a:r>
            <a:endParaRPr/>
          </a:p>
        </p:txBody>
      </p:sp>
      <p:sp>
        <p:nvSpPr>
          <p:cNvPr id="412" name="Google Shape;412;p15"/>
          <p:cNvSpPr txBox="1"/>
          <p:nvPr/>
        </p:nvSpPr>
        <p:spPr>
          <a:xfrm>
            <a:off x="8455152" y="2810179"/>
            <a:ext cx="36382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Improving a model by collecting user feedback - Reinforcement Learning by Human Feedback (RLHF)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4550" y="2825693"/>
            <a:ext cx="1206613" cy="1206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5"/>
          <p:cNvPicPr preferRelativeResize="0"/>
          <p:nvPr/>
        </p:nvPicPr>
        <p:blipFill rotWithShape="1">
          <a:blip r:embed="rId6">
            <a:alphaModFix/>
          </a:blip>
          <a:srcRect b="10979" l="24509" r="21241" t="9103"/>
          <a:stretch/>
        </p:blipFill>
        <p:spPr>
          <a:xfrm>
            <a:off x="7190124" y="862785"/>
            <a:ext cx="873063" cy="128615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5"/>
          <p:cNvSpPr txBox="1"/>
          <p:nvPr/>
        </p:nvSpPr>
        <p:spPr>
          <a:xfrm>
            <a:off x="8323730" y="1165552"/>
            <a:ext cx="330590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adjustment of radiotherapy, anesthesia, or insulin doses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348026" y="5884176"/>
            <a:ext cx="965992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Twin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virtual replica of a patient or organ that simulates its physiology in real-time using medical data. RL (Reinforcement Learning) optimizes therapeutic strategies by virtually testing different treatments on the twin before they are applied to the actual patient.</a:t>
            </a:r>
            <a:endParaRPr/>
          </a:p>
        </p:txBody>
      </p:sp>
      <p:pic>
        <p:nvPicPr>
          <p:cNvPr descr="Le jumeau numérique dans le secteur de ..." id="417" name="Google Shape;417;p15"/>
          <p:cNvPicPr preferRelativeResize="0"/>
          <p:nvPr/>
        </p:nvPicPr>
        <p:blipFill rotWithShape="1">
          <a:blip r:embed="rId7">
            <a:alphaModFix/>
          </a:blip>
          <a:srcRect b="0" l="22591" r="10222" t="0"/>
          <a:stretch/>
        </p:blipFill>
        <p:spPr>
          <a:xfrm>
            <a:off x="9737889" y="5454956"/>
            <a:ext cx="227186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66102"/>
            <a:ext cx="12192000" cy="612172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6"/>
          <p:cNvSpPr txBox="1"/>
          <p:nvPr/>
        </p:nvSpPr>
        <p:spPr>
          <a:xfrm>
            <a:off x="1564850" y="0"/>
            <a:ext cx="814475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Exemple de jumeau numérique permettant au patient de simuler leur evolution de glucose et d’insuline en fonction des traitements et de leurs repas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688" y="2191849"/>
            <a:ext cx="4829898" cy="268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021" y="1625048"/>
            <a:ext cx="3726473" cy="360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8"/>
          <p:cNvSpPr/>
          <p:nvPr/>
        </p:nvSpPr>
        <p:spPr>
          <a:xfrm>
            <a:off x="4633474" y="4343741"/>
            <a:ext cx="1977640" cy="759696"/>
          </a:xfrm>
          <a:prstGeom prst="round2DiagRect">
            <a:avLst>
              <a:gd fmla="val 0" name="adj1"/>
              <a:gd fmla="val 25706" name="adj2"/>
            </a:avLst>
          </a:prstGeom>
          <a:solidFill>
            <a:schemeClr val="accent5"/>
          </a:solidFill>
          <a:ln cap="flat" cmpd="sng" w="41900">
            <a:solidFill>
              <a:srgbClr val="82892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4185331" y="1452707"/>
            <a:ext cx="3106849" cy="759696"/>
          </a:xfrm>
          <a:prstGeom prst="round2DiagRect">
            <a:avLst>
              <a:gd fmla="val 0" name="adj1"/>
              <a:gd fmla="val 25706" name="adj2"/>
            </a:avLst>
          </a:prstGeom>
          <a:solidFill>
            <a:schemeClr val="accent4"/>
          </a:solidFill>
          <a:ln cap="flat" cmpd="sng" w="41900">
            <a:solidFill>
              <a:srgbClr val="CB950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/>
          </a:p>
        </p:txBody>
      </p:sp>
      <p:pic>
        <p:nvPicPr>
          <p:cNvPr descr="Arrow: Counterclockwise curve" id="436" name="Google Shape;4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671437">
            <a:off x="6405002" y="2548616"/>
            <a:ext cx="1213610" cy="1213610"/>
          </a:xfrm>
          <a:prstGeom prst="round2DiagRect">
            <a:avLst>
              <a:gd fmla="val 5608" name="adj1"/>
              <a:gd fmla="val 0" name="adj2"/>
            </a:avLst>
          </a:prstGeom>
          <a:noFill/>
          <a:ln>
            <a:noFill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pic>
        <p:nvPicPr>
          <p:cNvPr descr="Arrow: Counterclockwise curve" id="437" name="Google Shape;4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128563">
            <a:off x="3889746" y="2671267"/>
            <a:ext cx="1213610" cy="1213610"/>
          </a:xfrm>
          <a:prstGeom prst="round2DiagRect">
            <a:avLst>
              <a:gd fmla="val 5608" name="adj1"/>
              <a:gd fmla="val 0" name="adj2"/>
            </a:avLst>
          </a:prstGeom>
          <a:noFill/>
          <a:ln>
            <a:noFill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pic>
      <p:sp>
        <p:nvSpPr>
          <p:cNvPr id="438" name="Google Shape;438;p18"/>
          <p:cNvSpPr txBox="1"/>
          <p:nvPr/>
        </p:nvSpPr>
        <p:spPr>
          <a:xfrm>
            <a:off x="0" y="2678367"/>
            <a:ext cx="411363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(s) /Observation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Rewards</a:t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6720388" y="3632474"/>
            <a:ext cx="5400078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policy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trained by deep learning (model named actor):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maximize the reward estimated by the critic model (exploitation)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explore new strategies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Exploitation-exploration dilemma</a:t>
            </a:r>
            <a:endParaRPr/>
          </a:p>
        </p:txBody>
      </p:sp>
      <p:grpSp>
        <p:nvGrpSpPr>
          <p:cNvPr id="440" name="Google Shape;440;p18"/>
          <p:cNvGrpSpPr/>
          <p:nvPr/>
        </p:nvGrpSpPr>
        <p:grpSpPr>
          <a:xfrm>
            <a:off x="7448926" y="4206581"/>
            <a:ext cx="740228" cy="274320"/>
            <a:chOff x="2540000" y="2540000"/>
            <a:chExt cx="269876" cy="100013"/>
          </a:xfrm>
        </p:grpSpPr>
        <p:sp>
          <p:nvSpPr>
            <p:cNvPr id="441" name="Google Shape;441;p18"/>
            <p:cNvSpPr/>
            <p:nvPr/>
          </p:nvSpPr>
          <p:spPr>
            <a:xfrm>
              <a:off x="2540000" y="2571750"/>
              <a:ext cx="49213" cy="44450"/>
            </a:xfrm>
            <a:custGeom>
              <a:rect b="b" l="l" r="r" t="t"/>
              <a:pathLst>
                <a:path extrusionOk="0" h="220" w="269">
                  <a:moveTo>
                    <a:pt x="118" y="29"/>
                  </a:moveTo>
                  <a:lnTo>
                    <a:pt x="175" y="29"/>
                  </a:lnTo>
                  <a:cubicBezTo>
                    <a:pt x="158" y="103"/>
                    <a:pt x="154" y="124"/>
                    <a:pt x="154" y="158"/>
                  </a:cubicBezTo>
                  <a:cubicBezTo>
                    <a:pt x="154" y="165"/>
                    <a:pt x="154" y="178"/>
                    <a:pt x="158" y="195"/>
                  </a:cubicBezTo>
                  <a:cubicBezTo>
                    <a:pt x="163" y="217"/>
                    <a:pt x="168" y="220"/>
                    <a:pt x="176" y="220"/>
                  </a:cubicBezTo>
                  <a:cubicBezTo>
                    <a:pt x="186" y="220"/>
                    <a:pt x="196" y="211"/>
                    <a:pt x="196" y="201"/>
                  </a:cubicBezTo>
                  <a:cubicBezTo>
                    <a:pt x="196" y="198"/>
                    <a:pt x="196" y="197"/>
                    <a:pt x="193" y="190"/>
                  </a:cubicBezTo>
                  <a:cubicBezTo>
                    <a:pt x="179" y="155"/>
                    <a:pt x="179" y="122"/>
                    <a:pt x="179" y="108"/>
                  </a:cubicBezTo>
                  <a:cubicBezTo>
                    <a:pt x="179" y="82"/>
                    <a:pt x="182" y="55"/>
                    <a:pt x="188" y="29"/>
                  </a:cubicBezTo>
                  <a:lnTo>
                    <a:pt x="245" y="29"/>
                  </a:lnTo>
                  <a:cubicBezTo>
                    <a:pt x="251" y="29"/>
                    <a:pt x="269" y="29"/>
                    <a:pt x="269" y="12"/>
                  </a:cubicBezTo>
                  <a:cubicBezTo>
                    <a:pt x="269" y="0"/>
                    <a:pt x="259" y="0"/>
                    <a:pt x="249" y="0"/>
                  </a:cubicBezTo>
                  <a:lnTo>
                    <a:pt x="82" y="0"/>
                  </a:lnTo>
                  <a:cubicBezTo>
                    <a:pt x="71" y="0"/>
                    <a:pt x="52" y="0"/>
                    <a:pt x="30" y="23"/>
                  </a:cubicBezTo>
                  <a:cubicBezTo>
                    <a:pt x="13" y="43"/>
                    <a:pt x="0" y="66"/>
                    <a:pt x="0" y="68"/>
                  </a:cubicBezTo>
                  <a:cubicBezTo>
                    <a:pt x="0" y="69"/>
                    <a:pt x="0" y="73"/>
                    <a:pt x="6" y="73"/>
                  </a:cubicBezTo>
                  <a:cubicBezTo>
                    <a:pt x="10" y="73"/>
                    <a:pt x="11" y="71"/>
                    <a:pt x="14" y="67"/>
                  </a:cubicBezTo>
                  <a:cubicBezTo>
                    <a:pt x="38" y="29"/>
                    <a:pt x="67" y="29"/>
                    <a:pt x="77" y="29"/>
                  </a:cubicBezTo>
                  <a:lnTo>
                    <a:pt x="106" y="29"/>
                  </a:lnTo>
                  <a:cubicBezTo>
                    <a:pt x="90" y="89"/>
                    <a:pt x="63" y="150"/>
                    <a:pt x="42" y="195"/>
                  </a:cubicBezTo>
                  <a:cubicBezTo>
                    <a:pt x="38" y="202"/>
                    <a:pt x="38" y="203"/>
                    <a:pt x="38" y="207"/>
                  </a:cubicBezTo>
                  <a:cubicBezTo>
                    <a:pt x="38" y="216"/>
                    <a:pt x="46" y="220"/>
                    <a:pt x="52" y="220"/>
                  </a:cubicBezTo>
                  <a:cubicBezTo>
                    <a:pt x="67" y="220"/>
                    <a:pt x="71" y="206"/>
                    <a:pt x="77" y="188"/>
                  </a:cubicBezTo>
                  <a:cubicBezTo>
                    <a:pt x="84" y="165"/>
                    <a:pt x="84" y="164"/>
                    <a:pt x="91" y="139"/>
                  </a:cubicBezTo>
                  <a:lnTo>
                    <a:pt x="118" y="2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2593975" y="2581275"/>
              <a:ext cx="28575" cy="49213"/>
            </a:xfrm>
            <a:custGeom>
              <a:rect b="b" l="l" r="r" t="t"/>
              <a:pathLst>
                <a:path extrusionOk="0" h="249" w="157">
                  <a:moveTo>
                    <a:pt x="157" y="76"/>
                  </a:moveTo>
                  <a:cubicBezTo>
                    <a:pt x="157" y="39"/>
                    <a:pt x="143" y="0"/>
                    <a:pt x="108" y="0"/>
                  </a:cubicBezTo>
                  <a:cubicBezTo>
                    <a:pt x="56" y="0"/>
                    <a:pt x="0" y="94"/>
                    <a:pt x="0" y="173"/>
                  </a:cubicBezTo>
                  <a:cubicBezTo>
                    <a:pt x="0" y="215"/>
                    <a:pt x="16" y="249"/>
                    <a:pt x="48" y="249"/>
                  </a:cubicBezTo>
                  <a:cubicBezTo>
                    <a:pt x="102" y="249"/>
                    <a:pt x="157" y="154"/>
                    <a:pt x="157" y="76"/>
                  </a:cubicBezTo>
                  <a:close/>
                  <a:moveTo>
                    <a:pt x="40" y="118"/>
                  </a:moveTo>
                  <a:cubicBezTo>
                    <a:pt x="58" y="43"/>
                    <a:pt x="88" y="10"/>
                    <a:pt x="108" y="10"/>
                  </a:cubicBezTo>
                  <a:cubicBezTo>
                    <a:pt x="130" y="10"/>
                    <a:pt x="130" y="49"/>
                    <a:pt x="130" y="55"/>
                  </a:cubicBezTo>
                  <a:cubicBezTo>
                    <a:pt x="130" y="69"/>
                    <a:pt x="128" y="89"/>
                    <a:pt x="120" y="118"/>
                  </a:cubicBezTo>
                  <a:lnTo>
                    <a:pt x="40" y="118"/>
                  </a:lnTo>
                  <a:close/>
                  <a:moveTo>
                    <a:pt x="117" y="131"/>
                  </a:moveTo>
                  <a:cubicBezTo>
                    <a:pt x="107" y="169"/>
                    <a:pt x="99" y="188"/>
                    <a:pt x="89" y="205"/>
                  </a:cubicBezTo>
                  <a:cubicBezTo>
                    <a:pt x="78" y="223"/>
                    <a:pt x="64" y="239"/>
                    <a:pt x="49" y="239"/>
                  </a:cubicBezTo>
                  <a:cubicBezTo>
                    <a:pt x="30" y="239"/>
                    <a:pt x="27" y="213"/>
                    <a:pt x="27" y="194"/>
                  </a:cubicBezTo>
                  <a:cubicBezTo>
                    <a:pt x="27" y="171"/>
                    <a:pt x="33" y="144"/>
                    <a:pt x="37" y="131"/>
                  </a:cubicBezTo>
                  <a:lnTo>
                    <a:pt x="117" y="13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2640013" y="2540000"/>
              <a:ext cx="22225" cy="100013"/>
            </a:xfrm>
            <a:custGeom>
              <a:rect b="b" l="l" r="r" t="t"/>
              <a:pathLst>
                <a:path extrusionOk="0" h="499" w="116">
                  <a:moveTo>
                    <a:pt x="116" y="494"/>
                  </a:moveTo>
                  <a:cubicBezTo>
                    <a:pt x="116" y="492"/>
                    <a:pt x="116" y="491"/>
                    <a:pt x="107" y="483"/>
                  </a:cubicBezTo>
                  <a:cubicBezTo>
                    <a:pt x="45" y="420"/>
                    <a:pt x="29" y="326"/>
                    <a:pt x="29" y="249"/>
                  </a:cubicBezTo>
                  <a:cubicBezTo>
                    <a:pt x="29" y="162"/>
                    <a:pt x="48" y="76"/>
                    <a:pt x="109" y="13"/>
                  </a:cubicBezTo>
                  <a:cubicBezTo>
                    <a:pt x="116" y="7"/>
                    <a:pt x="116" y="6"/>
                    <a:pt x="116" y="5"/>
                  </a:cubicBezTo>
                  <a:cubicBezTo>
                    <a:pt x="116" y="1"/>
                    <a:pt x="114" y="0"/>
                    <a:pt x="111" y="0"/>
                  </a:cubicBezTo>
                  <a:cubicBezTo>
                    <a:pt x="106" y="0"/>
                    <a:pt x="61" y="34"/>
                    <a:pt x="32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6" y="348"/>
                    <a:pt x="33" y="405"/>
                  </a:cubicBezTo>
                  <a:cubicBezTo>
                    <a:pt x="63" y="466"/>
                    <a:pt x="106" y="499"/>
                    <a:pt x="111" y="499"/>
                  </a:cubicBezTo>
                  <a:cubicBezTo>
                    <a:pt x="114" y="499"/>
                    <a:pt x="116" y="497"/>
                    <a:pt x="116" y="49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2670175" y="2570163"/>
              <a:ext cx="42863" cy="46038"/>
            </a:xfrm>
            <a:custGeom>
              <a:rect b="b" l="l" r="r" t="t"/>
              <a:pathLst>
                <a:path extrusionOk="0" h="225" w="228">
                  <a:moveTo>
                    <a:pt x="166" y="31"/>
                  </a:moveTo>
                  <a:cubicBezTo>
                    <a:pt x="157" y="13"/>
                    <a:pt x="142" y="0"/>
                    <a:pt x="120" y="0"/>
                  </a:cubicBezTo>
                  <a:cubicBezTo>
                    <a:pt x="61" y="0"/>
                    <a:pt x="0" y="73"/>
                    <a:pt x="0" y="146"/>
                  </a:cubicBezTo>
                  <a:cubicBezTo>
                    <a:pt x="0" y="192"/>
                    <a:pt x="27" y="225"/>
                    <a:pt x="66" y="225"/>
                  </a:cubicBezTo>
                  <a:cubicBezTo>
                    <a:pt x="76" y="225"/>
                    <a:pt x="101" y="223"/>
                    <a:pt x="131" y="188"/>
                  </a:cubicBezTo>
                  <a:cubicBezTo>
                    <a:pt x="135" y="209"/>
                    <a:pt x="152" y="225"/>
                    <a:pt x="176" y="225"/>
                  </a:cubicBezTo>
                  <a:cubicBezTo>
                    <a:pt x="194" y="225"/>
                    <a:pt x="205" y="214"/>
                    <a:pt x="213" y="198"/>
                  </a:cubicBezTo>
                  <a:cubicBezTo>
                    <a:pt x="222" y="180"/>
                    <a:pt x="228" y="150"/>
                    <a:pt x="228" y="149"/>
                  </a:cubicBezTo>
                  <a:cubicBezTo>
                    <a:pt x="228" y="144"/>
                    <a:pt x="223" y="144"/>
                    <a:pt x="222" y="144"/>
                  </a:cubicBezTo>
                  <a:cubicBezTo>
                    <a:pt x="217" y="144"/>
                    <a:pt x="217" y="146"/>
                    <a:pt x="215" y="153"/>
                  </a:cubicBezTo>
                  <a:cubicBezTo>
                    <a:pt x="207" y="185"/>
                    <a:pt x="198" y="214"/>
                    <a:pt x="177" y="214"/>
                  </a:cubicBezTo>
                  <a:cubicBezTo>
                    <a:pt x="164" y="214"/>
                    <a:pt x="162" y="201"/>
                    <a:pt x="162" y="191"/>
                  </a:cubicBezTo>
                  <a:cubicBezTo>
                    <a:pt x="162" y="181"/>
                    <a:pt x="163" y="177"/>
                    <a:pt x="169" y="155"/>
                  </a:cubicBezTo>
                  <a:cubicBezTo>
                    <a:pt x="174" y="134"/>
                    <a:pt x="175" y="129"/>
                    <a:pt x="180" y="110"/>
                  </a:cubicBezTo>
                  <a:lnTo>
                    <a:pt x="198" y="40"/>
                  </a:lnTo>
                  <a:cubicBezTo>
                    <a:pt x="201" y="26"/>
                    <a:pt x="201" y="25"/>
                    <a:pt x="201" y="23"/>
                  </a:cubicBezTo>
                  <a:cubicBezTo>
                    <a:pt x="201" y="14"/>
                    <a:pt x="195" y="9"/>
                    <a:pt x="187" y="9"/>
                  </a:cubicBezTo>
                  <a:cubicBezTo>
                    <a:pt x="175" y="9"/>
                    <a:pt x="167" y="20"/>
                    <a:pt x="166" y="31"/>
                  </a:cubicBezTo>
                  <a:close/>
                  <a:moveTo>
                    <a:pt x="133" y="161"/>
                  </a:moveTo>
                  <a:cubicBezTo>
                    <a:pt x="131" y="170"/>
                    <a:pt x="131" y="171"/>
                    <a:pt x="123" y="179"/>
                  </a:cubicBezTo>
                  <a:cubicBezTo>
                    <a:pt x="101" y="206"/>
                    <a:pt x="81" y="214"/>
                    <a:pt x="67" y="214"/>
                  </a:cubicBezTo>
                  <a:cubicBezTo>
                    <a:pt x="42" y="214"/>
                    <a:pt x="35" y="187"/>
                    <a:pt x="35" y="168"/>
                  </a:cubicBezTo>
                  <a:cubicBezTo>
                    <a:pt x="35" y="143"/>
                    <a:pt x="51" y="81"/>
                    <a:pt x="62" y="58"/>
                  </a:cubicBezTo>
                  <a:cubicBezTo>
                    <a:pt x="78" y="29"/>
                    <a:pt x="100" y="10"/>
                    <a:pt x="120" y="10"/>
                  </a:cubicBezTo>
                  <a:cubicBezTo>
                    <a:pt x="153" y="10"/>
                    <a:pt x="160" y="51"/>
                    <a:pt x="160" y="54"/>
                  </a:cubicBezTo>
                  <a:cubicBezTo>
                    <a:pt x="160" y="57"/>
                    <a:pt x="159" y="60"/>
                    <a:pt x="158" y="63"/>
                  </a:cubicBezTo>
                  <a:lnTo>
                    <a:pt x="133" y="16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2725738" y="2540000"/>
              <a:ext cx="4763" cy="100013"/>
            </a:xfrm>
            <a:custGeom>
              <a:rect b="b" l="l" r="r" t="t"/>
              <a:pathLst>
                <a:path extrusionOk="0" h="499" w="20">
                  <a:moveTo>
                    <a:pt x="20" y="18"/>
                  </a:moveTo>
                  <a:cubicBezTo>
                    <a:pt x="20" y="9"/>
                    <a:pt x="20" y="0"/>
                    <a:pt x="10" y="0"/>
                  </a:cubicBezTo>
                  <a:cubicBezTo>
                    <a:pt x="0" y="0"/>
                    <a:pt x="0" y="9"/>
                    <a:pt x="0" y="18"/>
                  </a:cubicBezTo>
                  <a:lnTo>
                    <a:pt x="0" y="481"/>
                  </a:lnTo>
                  <a:cubicBezTo>
                    <a:pt x="0" y="490"/>
                    <a:pt x="0" y="499"/>
                    <a:pt x="10" y="499"/>
                  </a:cubicBezTo>
                  <a:cubicBezTo>
                    <a:pt x="20" y="499"/>
                    <a:pt x="20" y="490"/>
                    <a:pt x="20" y="481"/>
                  </a:cubicBezTo>
                  <a:lnTo>
                    <a:pt x="20" y="18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2746375" y="2570163"/>
              <a:ext cx="33338" cy="46038"/>
            </a:xfrm>
            <a:custGeom>
              <a:rect b="b" l="l" r="r" t="t"/>
              <a:pathLst>
                <a:path extrusionOk="0" h="225" w="184">
                  <a:moveTo>
                    <a:pt x="169" y="33"/>
                  </a:moveTo>
                  <a:cubicBezTo>
                    <a:pt x="155" y="34"/>
                    <a:pt x="145" y="45"/>
                    <a:pt x="145" y="56"/>
                  </a:cubicBezTo>
                  <a:cubicBezTo>
                    <a:pt x="145" y="63"/>
                    <a:pt x="150" y="70"/>
                    <a:pt x="161" y="70"/>
                  </a:cubicBezTo>
                  <a:cubicBezTo>
                    <a:pt x="172" y="70"/>
                    <a:pt x="184" y="62"/>
                    <a:pt x="184" y="42"/>
                  </a:cubicBezTo>
                  <a:cubicBezTo>
                    <a:pt x="184" y="20"/>
                    <a:pt x="162" y="0"/>
                    <a:pt x="124" y="0"/>
                  </a:cubicBezTo>
                  <a:cubicBezTo>
                    <a:pt x="59" y="0"/>
                    <a:pt x="40" y="50"/>
                    <a:pt x="40" y="72"/>
                  </a:cubicBezTo>
                  <a:cubicBezTo>
                    <a:pt x="40" y="111"/>
                    <a:pt x="77" y="119"/>
                    <a:pt x="92" y="122"/>
                  </a:cubicBezTo>
                  <a:cubicBezTo>
                    <a:pt x="117" y="127"/>
                    <a:pt x="143" y="132"/>
                    <a:pt x="143" y="160"/>
                  </a:cubicBezTo>
                  <a:cubicBezTo>
                    <a:pt x="143" y="173"/>
                    <a:pt x="132" y="214"/>
                    <a:pt x="72" y="214"/>
                  </a:cubicBezTo>
                  <a:cubicBezTo>
                    <a:pt x="65" y="214"/>
                    <a:pt x="27" y="214"/>
                    <a:pt x="15" y="188"/>
                  </a:cubicBezTo>
                  <a:cubicBezTo>
                    <a:pt x="34" y="190"/>
                    <a:pt x="47" y="176"/>
                    <a:pt x="47" y="162"/>
                  </a:cubicBezTo>
                  <a:cubicBezTo>
                    <a:pt x="47" y="150"/>
                    <a:pt x="39" y="144"/>
                    <a:pt x="28" y="144"/>
                  </a:cubicBezTo>
                  <a:cubicBezTo>
                    <a:pt x="15" y="144"/>
                    <a:pt x="0" y="155"/>
                    <a:pt x="0" y="177"/>
                  </a:cubicBezTo>
                  <a:cubicBezTo>
                    <a:pt x="0" y="205"/>
                    <a:pt x="29" y="225"/>
                    <a:pt x="72" y="225"/>
                  </a:cubicBezTo>
                  <a:cubicBezTo>
                    <a:pt x="152" y="225"/>
                    <a:pt x="172" y="165"/>
                    <a:pt x="172" y="143"/>
                  </a:cubicBezTo>
                  <a:cubicBezTo>
                    <a:pt x="172" y="125"/>
                    <a:pt x="162" y="112"/>
                    <a:pt x="156" y="106"/>
                  </a:cubicBezTo>
                  <a:cubicBezTo>
                    <a:pt x="143" y="92"/>
                    <a:pt x="128" y="90"/>
                    <a:pt x="107" y="85"/>
                  </a:cubicBezTo>
                  <a:cubicBezTo>
                    <a:pt x="89" y="81"/>
                    <a:pt x="69" y="78"/>
                    <a:pt x="69" y="55"/>
                  </a:cubicBezTo>
                  <a:cubicBezTo>
                    <a:pt x="69" y="41"/>
                    <a:pt x="81" y="10"/>
                    <a:pt x="124" y="10"/>
                  </a:cubicBezTo>
                  <a:cubicBezTo>
                    <a:pt x="137" y="10"/>
                    <a:pt x="162" y="14"/>
                    <a:pt x="169" y="3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2789238" y="2540000"/>
              <a:ext cx="20638" cy="100013"/>
            </a:xfrm>
            <a:custGeom>
              <a:rect b="b" l="l" r="r" t="t"/>
              <a:pathLst>
                <a:path extrusionOk="0" h="499" w="115">
                  <a:moveTo>
                    <a:pt x="115" y="249"/>
                  </a:moveTo>
                  <a:cubicBezTo>
                    <a:pt x="115" y="210"/>
                    <a:pt x="110" y="150"/>
                    <a:pt x="82" y="94"/>
                  </a:cubicBezTo>
                  <a:cubicBezTo>
                    <a:pt x="52" y="32"/>
                    <a:pt x="9" y="0"/>
                    <a:pt x="4" y="0"/>
                  </a:cubicBezTo>
                  <a:cubicBezTo>
                    <a:pt x="1" y="0"/>
                    <a:pt x="0" y="2"/>
                    <a:pt x="0" y="5"/>
                  </a:cubicBezTo>
                  <a:cubicBezTo>
                    <a:pt x="0" y="6"/>
                    <a:pt x="0" y="7"/>
                    <a:pt x="9" y="16"/>
                  </a:cubicBezTo>
                  <a:cubicBezTo>
                    <a:pt x="58" y="66"/>
                    <a:pt x="86" y="145"/>
                    <a:pt x="86" y="249"/>
                  </a:cubicBezTo>
                  <a:cubicBezTo>
                    <a:pt x="86" y="335"/>
                    <a:pt x="68" y="422"/>
                    <a:pt x="6" y="485"/>
                  </a:cubicBezTo>
                  <a:cubicBezTo>
                    <a:pt x="0" y="491"/>
                    <a:pt x="0" y="492"/>
                    <a:pt x="0" y="494"/>
                  </a:cubicBezTo>
                  <a:cubicBezTo>
                    <a:pt x="0" y="497"/>
                    <a:pt x="1" y="499"/>
                    <a:pt x="4" y="499"/>
                  </a:cubicBezTo>
                  <a:cubicBezTo>
                    <a:pt x="9" y="499"/>
                    <a:pt x="54" y="465"/>
                    <a:pt x="84" y="401"/>
                  </a:cubicBezTo>
                  <a:cubicBezTo>
                    <a:pt x="109" y="346"/>
                    <a:pt x="115" y="291"/>
                    <a:pt x="115" y="2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18"/>
          <p:cNvSpPr txBox="1"/>
          <p:nvPr/>
        </p:nvSpPr>
        <p:spPr>
          <a:xfrm>
            <a:off x="7372257" y="2985684"/>
            <a:ext cx="18448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 a</a:t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479098" y="3745802"/>
            <a:ext cx="415437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deep learning model is created, named the </a:t>
            </a:r>
            <a:r>
              <a:rPr b="1"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</a:t>
            </a: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Supervised learning is used with all past actions that led to rewards to create a model that predicts the reward based on the agent's action.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4043547" y="161489"/>
            <a:ext cx="45104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 Critic architecture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"/>
          <p:cNvSpPr/>
          <p:nvPr/>
        </p:nvSpPr>
        <p:spPr>
          <a:xfrm>
            <a:off x="376518" y="434430"/>
            <a:ext cx="10793506" cy="5989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0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56" name="Google Shape;456;p19"/>
          <p:cNvSpPr txBox="1"/>
          <p:nvPr/>
        </p:nvSpPr>
        <p:spPr>
          <a:xfrm>
            <a:off x="3545542" y="129098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Maximizing the Value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"/>
          <p:cNvSpPr/>
          <p:nvPr/>
        </p:nvSpPr>
        <p:spPr>
          <a:xfrm>
            <a:off x="294372" y="828230"/>
            <a:ext cx="9100640" cy="497264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02" l="-33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3545542" y="129098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Maximizing the Value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 txBox="1"/>
          <p:nvPr/>
        </p:nvSpPr>
        <p:spPr>
          <a:xfrm>
            <a:off x="636494" y="558202"/>
            <a:ext cx="10354235" cy="51993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69" r="0" t="-7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68" name="Google Shape;468;p21"/>
          <p:cNvSpPr txBox="1"/>
          <p:nvPr/>
        </p:nvSpPr>
        <p:spPr>
          <a:xfrm>
            <a:off x="4298577" y="47214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Actor-Critic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2"/>
          <p:cNvSpPr txBox="1"/>
          <p:nvPr/>
        </p:nvSpPr>
        <p:spPr>
          <a:xfrm>
            <a:off x="1788458" y="1056998"/>
            <a:ext cx="8287871" cy="32067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89" l="-587" r="-514" t="-95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"/>
          <p:cNvSpPr txBox="1"/>
          <p:nvPr/>
        </p:nvSpPr>
        <p:spPr>
          <a:xfrm>
            <a:off x="842681" y="296812"/>
            <a:ext cx="10793507" cy="71198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51" r="-281" t="-5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4"/>
          <p:cNvSpPr txBox="1"/>
          <p:nvPr/>
        </p:nvSpPr>
        <p:spPr>
          <a:xfrm>
            <a:off x="1595717" y="897849"/>
            <a:ext cx="1009425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Experience Replay: Storing transitions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buffer </a:t>
            </a:r>
            <a:r>
              <a:rPr i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store the most recent episodes (</a:t>
            </a: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Experience Replay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FIFO buffer is used: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old experiences are kept too long, the rewards no longer match the current Actor.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 txBox="1"/>
          <p:nvPr/>
        </p:nvSpPr>
        <p:spPr>
          <a:xfrm>
            <a:off x="3742765" y="496651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Proximal Policy Optimization (PPO)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1591235" y="1120676"/>
            <a:ext cx="878093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Proximal Policy Optimization (PPO) is a reinforcement learning algorithm introduced by John Schulman and colleagues at OpenAI in 2017. PPO became the default reinforcement learning algorithm at OpenAI.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Instability in Policy Updates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standard Actor-Critic methods, updating the Actor can lead to large and unstable policy changes.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instability can result in: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Divergence: The policy changes too drastically, leading to worse performance.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fr-F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Catastrophic forgetting: Previously learned good behaviors are lost.</a:t>
            </a:r>
            <a:endParaRPr/>
          </a:p>
          <a:p>
            <a:pPr indent="-1714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PPO – Controlled Policy Updates</a:t>
            </a:r>
            <a:b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PPO introduces a clipping mechanism that prevents overly large updates to the policy, ensuring stable and gradual improvements.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"/>
          <p:cNvSpPr txBox="1"/>
          <p:nvPr/>
        </p:nvSpPr>
        <p:spPr>
          <a:xfrm>
            <a:off x="3742765" y="496651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Proximal Policy Optimization (PPO)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905435" y="1530821"/>
            <a:ext cx="9959788" cy="48333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133" l="-549" r="-549" t="-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"/>
          <p:cNvSpPr txBox="1"/>
          <p:nvPr/>
        </p:nvSpPr>
        <p:spPr>
          <a:xfrm>
            <a:off x="3742765" y="496651"/>
            <a:ext cx="6104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Proximal Policy Optimization (PPO)</a:t>
            </a:r>
            <a:endParaRPr/>
          </a:p>
        </p:txBody>
      </p:sp>
      <p:sp>
        <p:nvSpPr>
          <p:cNvPr id="501" name="Google Shape;501;p27"/>
          <p:cNvSpPr txBox="1"/>
          <p:nvPr/>
        </p:nvSpPr>
        <p:spPr>
          <a:xfrm>
            <a:off x="860612" y="1951672"/>
            <a:ext cx="995978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Remark: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PPO requires to empty the buffer of experiences after each training. Typically 10-20 episodes or 2048 timestamp. Then it is actor is first train on typically 100 epochs and then the critic on 100 epochs.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prevents the policy from changing too abruptly, even if the Actor strongly favors certain actions.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PPO thus ensures a balance between stability and progressive improvement.</a:t>
            </a:r>
            <a:endParaRPr/>
          </a:p>
        </p:txBody>
      </p:sp>
    </p:spTree>
  </p:cSld>
  <p:clrMapOvr>
    <a:masterClrMapping/>
  </p:clrMapOvr>
  <mc:AlternateContent>
    <mc:Choice Requires="p14">
      <p:transition p14:dur="1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8"/>
          <p:cNvSpPr txBox="1"/>
          <p:nvPr/>
        </p:nvSpPr>
        <p:spPr>
          <a:xfrm>
            <a:off x="500000" y="300000"/>
            <a:ext cx="1100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SAC - Soft Actor-Critic (Stochastic Policy)</a:t>
            </a:r>
            <a:endParaRPr/>
          </a:p>
        </p:txBody>
      </p:sp>
      <p:sp>
        <p:nvSpPr>
          <p:cNvPr id="507" name="Google Shape;507;p28"/>
          <p:cNvSpPr txBox="1"/>
          <p:nvPr/>
        </p:nvSpPr>
        <p:spPr>
          <a:xfrm>
            <a:off x="500000" y="900000"/>
            <a:ext cx="110000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idea: Instead of directly predicting an action, the actor predicts a distribution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case:</a:t>
            </a: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actor predicts mu and sigma (mean and standard deviation)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action is sampled: a ~ N(mu, sigma²)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Discrete case:</a:t>
            </a: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actor predicts a softmax distribution over actions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bonus:</a:t>
            </a: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Objective = Sum(reward + alpha * entropy(pi))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larger sigma is, the higher the entropy, and the more significant the bonus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agent explores naturally without external noise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fr-F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Elegant resolution of the exploration/exploitation dilemma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ille « Diamant » 16 x 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