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2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2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2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showMasterSp="0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24" name="Google Shape;124;p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0" name="Google Shape;140;p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1" name="Google Shape;141;p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6" name="Google Shape;146;p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7" name="Google Shape;147;p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8" name="Google Shape;148;p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0" name="Google Shape;150;p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2" name="Google Shape;152;p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57" name="Google Shape;157;p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58" name="Google Shape;158;p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3" name="Google Shape;163;p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64" name="Google Shape;164;p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5" name="Google Shape;165;p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6" name="Google Shape;166;p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7" name="Google Shape;167;p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8" name="Google Shape;168;p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69" name="Google Shape;169;p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74" name="Google Shape;174;p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0" name="Google Shape;180;p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85" name="Google Shape;185;p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1" name="Google Shape;201;p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02" name="Google Shape;202;p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7" name="Google Shape;207;p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8" name="Google Shape;208;p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2" name="Google Shape;212;p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3" name="Google Shape;213;p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18" name="Google Shape;218;p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19" name="Google Shape;219;p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2" name="Google Shape;222;p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3" name="Google Shape;223;p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4" name="Google Shape;224;p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5" name="Google Shape;225;p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0" name="Google Shape;230;p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4" name="Google Shape;234;p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5" name="Google Shape;235;p5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37" name="Google Shape;237;p5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1" name="Google Shape;241;p6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" name="Google Shape;242;p6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6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9" name="Google Shape;249;p7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50" name="Google Shape;250;p7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9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9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9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9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9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9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9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9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9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9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9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9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9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9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9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9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9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9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9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9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9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9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9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0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0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Espace réservé vide pour ajouter une image. Cliquez sur l’espace réservé et sélectionnez l’image à ajouter." id="374" name="Google Shape;374;p10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0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1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2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1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1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keras.io/examples/nlp/bidirectional_lstm_imdb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 txBox="1"/>
          <p:nvPr>
            <p:ph idx="1" type="subTitle"/>
          </p:nvPr>
        </p:nvSpPr>
        <p:spPr>
          <a:xfrm>
            <a:off x="1033272" y="5432564"/>
            <a:ext cx="10030968" cy="1098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fr-FR" sz="3200"/>
              <a:t>Session 4: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fr-FR" sz="3200"/>
              <a:t>Reccurent Neural Network (RNN)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fr-FR" sz="3200"/>
              <a:t>&amp; </a:t>
            </a:r>
            <a:r>
              <a:rPr lang="fr-FR" sz="3200"/>
              <a:t>Natural Language Processing (NLP)</a:t>
            </a:r>
            <a:endParaRPr i="1" sz="3200"/>
          </a:p>
        </p:txBody>
      </p:sp>
      <p:sp>
        <p:nvSpPr>
          <p:cNvPr id="394" name="Google Shape;394;p13"/>
          <p:cNvSpPr txBox="1"/>
          <p:nvPr/>
        </p:nvSpPr>
        <p:spPr>
          <a:xfrm>
            <a:off x="1293845" y="4524385"/>
            <a:ext cx="9604310" cy="77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600"/>
              <a:buFont typeface="Arial"/>
              <a:buNone/>
            </a:pPr>
            <a:r>
              <a:rPr b="1" i="0" lang="fr-FR" sz="36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rPr>
              <a:t>Artificial Intelligence in Healthcare</a:t>
            </a:r>
            <a:endParaRPr/>
          </a:p>
        </p:txBody>
      </p:sp>
      <p:pic>
        <p:nvPicPr>
          <p:cNvPr id="395" name="Google Shape;3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280" y="326446"/>
            <a:ext cx="7059930" cy="406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/>
          <p:nvPr/>
        </p:nvSpPr>
        <p:spPr>
          <a:xfrm>
            <a:off x="2374084" y="341831"/>
            <a:ext cx="67001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RNN?</a:t>
            </a:r>
            <a:b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1030941" y="1120588"/>
            <a:ext cx="893781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sequential data: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series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sequences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(sequences of pixels, or signals)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of variable length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sequential information management: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Ex, I went to Nepal in 2009 = In 2009, I went to Nepal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Long-term information storage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 txBox="1"/>
          <p:nvPr/>
        </p:nvSpPr>
        <p:spPr>
          <a:xfrm>
            <a:off x="2374084" y="341831"/>
            <a:ext cx="67001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language processing</a:t>
            </a:r>
            <a:b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1120588" y="1487095"/>
            <a:ext cx="89378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first applications of RNN is for NLP (Natural Language Processing).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Unstructured data retrieval: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want to know which patients have been diagnosed with a particular disease from a doctor's letters, you need to look not just at the words, but at the sequence of words.</a:t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1053547" y="4094395"/>
            <a:ext cx="964602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general idea of recurrent networks is to go through each word and evolve a state vector.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question: How do you put words as input on a model? -&gt; Embedding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 txBox="1"/>
          <p:nvPr/>
        </p:nvSpPr>
        <p:spPr>
          <a:xfrm>
            <a:off x="1030941" y="1120588"/>
            <a:ext cx="893781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we need to input a class into a model, we can use One Hot Encoding and add a Dense layer.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equivalent to unsupervised assignment of a "dense" vector to each of the modalities in the class (as opposed to one-hot encoding, which gives a « sparse » vector, i.e. with 0 on the majority of values).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transformation from class to vector is called 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(using keras tf.keras.layers.Embedding)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avoids a priori assumptions about the order of modalities (e.g. you can't say a priori that a redhead is between brown and blond to study the link with skin cancer).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2374084" y="341831"/>
            <a:ext cx="67001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Embedding principle</a:t>
            </a:r>
            <a:b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/>
          <p:nvPr/>
        </p:nvSpPr>
        <p:spPr>
          <a:xfrm>
            <a:off x="1255253" y="671691"/>
            <a:ext cx="8937812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NLP, 1 word = 1 class from the +/- 50,000 words in the dictionary.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apply embedding, we'll typically have a Large Language Model (LLM) vector of dimension 50,000 for each word.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idea, the first value could indicate whether it's a verb or not, the second whether it's an adjective or not, the third whether it evokes a positive feeling or not, etc. This embedding is learned in an unsupervised way, so it's difficult to know exactly what each value actually corresponds 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Embedding must ensure that two synonyms have close vectors, and it must be able to bring out vector operations: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 King-Man+Woman must give Queen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handle invented words, spelling mistakes, and multiple languages, </a:t>
            </a: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 and other LLM models are no longer based on words, but on "</a:t>
            </a:r>
            <a:r>
              <a:rPr b="1"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(segmented text units, often around 4 letters long). This breakdown into tokens is determined automatically beforehand, based on the frequency of occurrence in a training database. 1 word = between 1 and 2 tokens on average, and there are some 50,000 tokens in the dictionary.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2374083" y="189431"/>
            <a:ext cx="67001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Embedding principle</a:t>
            </a:r>
            <a:b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 txBox="1"/>
          <p:nvPr/>
        </p:nvSpPr>
        <p:spPr>
          <a:xfrm>
            <a:off x="1174376" y="1005373"/>
            <a:ext cx="103209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    diagnosis      of         MS     is     excluded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962626" y="2661060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27" name="Google Shape;427;p18"/>
          <p:cNvCxnSpPr/>
          <p:nvPr/>
        </p:nvCxnSpPr>
        <p:spPr>
          <a:xfrm>
            <a:off x="1479176" y="2035861"/>
            <a:ext cx="0" cy="6251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1479176" y="3382624"/>
            <a:ext cx="0" cy="6006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9" name="Google Shape;429;p18"/>
          <p:cNvSpPr txBox="1"/>
          <p:nvPr/>
        </p:nvSpPr>
        <p:spPr>
          <a:xfrm>
            <a:off x="1066800" y="4126739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State1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2901153" y="2685607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31" name="Google Shape;431;p18"/>
          <p:cNvCxnSpPr/>
          <p:nvPr/>
        </p:nvCxnSpPr>
        <p:spPr>
          <a:xfrm flipH="1">
            <a:off x="3486879" y="2145494"/>
            <a:ext cx="4482" cy="5212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2" name="Google Shape;432;p18"/>
          <p:cNvCxnSpPr/>
          <p:nvPr/>
        </p:nvCxnSpPr>
        <p:spPr>
          <a:xfrm>
            <a:off x="3505201" y="3382624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3" name="Google Shape;433;p18"/>
          <p:cNvSpPr txBox="1"/>
          <p:nvPr/>
        </p:nvSpPr>
        <p:spPr>
          <a:xfrm>
            <a:off x="3164541" y="4109195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State2</a:t>
            </a:r>
            <a:endParaRPr/>
          </a:p>
        </p:txBody>
      </p:sp>
      <p:sp>
        <p:nvSpPr>
          <p:cNvPr id="434" name="Google Shape;434;p18"/>
          <p:cNvSpPr txBox="1"/>
          <p:nvPr/>
        </p:nvSpPr>
        <p:spPr>
          <a:xfrm>
            <a:off x="4948518" y="2707167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35" name="Google Shape;435;p18"/>
          <p:cNvCxnSpPr/>
          <p:nvPr/>
        </p:nvCxnSpPr>
        <p:spPr>
          <a:xfrm>
            <a:off x="5611907" y="2030059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6" name="Google Shape;436;p18"/>
          <p:cNvCxnSpPr/>
          <p:nvPr/>
        </p:nvCxnSpPr>
        <p:spPr>
          <a:xfrm>
            <a:off x="5611907" y="3404184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7" name="Google Shape;437;p18"/>
          <p:cNvSpPr txBox="1"/>
          <p:nvPr/>
        </p:nvSpPr>
        <p:spPr>
          <a:xfrm>
            <a:off x="5271247" y="4130755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State3</a:t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6528942" y="2675318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39" name="Google Shape;439;p18"/>
          <p:cNvCxnSpPr/>
          <p:nvPr/>
        </p:nvCxnSpPr>
        <p:spPr>
          <a:xfrm>
            <a:off x="7170197" y="1987897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0" name="Google Shape;440;p18"/>
          <p:cNvCxnSpPr/>
          <p:nvPr/>
        </p:nvCxnSpPr>
        <p:spPr>
          <a:xfrm>
            <a:off x="7157534" y="3404184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1" name="Google Shape;441;p18"/>
          <p:cNvSpPr txBox="1"/>
          <p:nvPr/>
        </p:nvSpPr>
        <p:spPr>
          <a:xfrm>
            <a:off x="6816874" y="4130755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State4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7982544" y="2645323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43" name="Google Shape;443;p18"/>
          <p:cNvCxnSpPr/>
          <p:nvPr/>
        </p:nvCxnSpPr>
        <p:spPr>
          <a:xfrm>
            <a:off x="8552332" y="1969438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4" name="Google Shape;444;p18"/>
          <p:cNvCxnSpPr/>
          <p:nvPr/>
        </p:nvCxnSpPr>
        <p:spPr>
          <a:xfrm>
            <a:off x="8552332" y="3404184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5" name="Google Shape;445;p18"/>
          <p:cNvSpPr txBox="1"/>
          <p:nvPr/>
        </p:nvSpPr>
        <p:spPr>
          <a:xfrm>
            <a:off x="8211672" y="4130755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State5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9436146" y="2645323"/>
            <a:ext cx="1344706" cy="64633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cxnSp>
        <p:nvCxnSpPr>
          <p:cNvPr id="447" name="Google Shape;447;p18"/>
          <p:cNvCxnSpPr/>
          <p:nvPr/>
        </p:nvCxnSpPr>
        <p:spPr>
          <a:xfrm>
            <a:off x="10056272" y="1969437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8" name="Google Shape;448;p18"/>
          <p:cNvCxnSpPr/>
          <p:nvPr/>
        </p:nvCxnSpPr>
        <p:spPr>
          <a:xfrm>
            <a:off x="10047308" y="3404184"/>
            <a:ext cx="0" cy="6758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9" name="Google Shape;449;p18"/>
          <p:cNvSpPr txBox="1"/>
          <p:nvPr/>
        </p:nvSpPr>
        <p:spPr>
          <a:xfrm>
            <a:off x="9606470" y="4058554"/>
            <a:ext cx="124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State6</a:t>
            </a:r>
            <a:endParaRPr/>
          </a:p>
        </p:txBody>
      </p:sp>
      <p:cxnSp>
        <p:nvCxnSpPr>
          <p:cNvPr id="450" name="Google Shape;450;p18"/>
          <p:cNvCxnSpPr/>
          <p:nvPr/>
        </p:nvCxnSpPr>
        <p:spPr>
          <a:xfrm flipH="1">
            <a:off x="10047308" y="4347265"/>
            <a:ext cx="8964" cy="2208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1" name="Google Shape;451;p18"/>
          <p:cNvSpPr txBox="1"/>
          <p:nvPr/>
        </p:nvSpPr>
        <p:spPr>
          <a:xfrm>
            <a:off x="9011482" y="4532300"/>
            <a:ext cx="2750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Class 0 = No SEP</a:t>
            </a:r>
            <a:endParaRPr/>
          </a:p>
        </p:txBody>
      </p:sp>
      <p:cxnSp>
        <p:nvCxnSpPr>
          <p:cNvPr id="452" name="Google Shape;452;p18"/>
          <p:cNvCxnSpPr/>
          <p:nvPr/>
        </p:nvCxnSpPr>
        <p:spPr>
          <a:xfrm>
            <a:off x="1819835" y="4243220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18"/>
          <p:cNvCxnSpPr/>
          <p:nvPr/>
        </p:nvCxnSpPr>
        <p:spPr>
          <a:xfrm rot="10800000">
            <a:off x="2517911" y="2549438"/>
            <a:ext cx="13055" cy="169378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18"/>
          <p:cNvCxnSpPr/>
          <p:nvPr/>
        </p:nvCxnSpPr>
        <p:spPr>
          <a:xfrm flipH="1" rot="10800000">
            <a:off x="2517911" y="2549438"/>
            <a:ext cx="718348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18"/>
          <p:cNvCxnSpPr/>
          <p:nvPr/>
        </p:nvCxnSpPr>
        <p:spPr>
          <a:xfrm>
            <a:off x="3236259" y="2539943"/>
            <a:ext cx="13055" cy="1053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6" name="Google Shape;456;p18"/>
          <p:cNvSpPr txBox="1"/>
          <p:nvPr/>
        </p:nvSpPr>
        <p:spPr>
          <a:xfrm>
            <a:off x="2680447" y="1660727"/>
            <a:ext cx="1658863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 txBox="1"/>
          <p:nvPr/>
        </p:nvSpPr>
        <p:spPr>
          <a:xfrm>
            <a:off x="763064" y="1652664"/>
            <a:ext cx="1658863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8"/>
          <p:cNvSpPr txBox="1"/>
          <p:nvPr/>
        </p:nvSpPr>
        <p:spPr>
          <a:xfrm>
            <a:off x="4750622" y="1629345"/>
            <a:ext cx="1658863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8"/>
          <p:cNvSpPr txBox="1"/>
          <p:nvPr/>
        </p:nvSpPr>
        <p:spPr>
          <a:xfrm>
            <a:off x="6457050" y="1617963"/>
            <a:ext cx="1416595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8"/>
          <p:cNvSpPr txBox="1"/>
          <p:nvPr/>
        </p:nvSpPr>
        <p:spPr>
          <a:xfrm>
            <a:off x="7844034" y="1599504"/>
            <a:ext cx="1416595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9287392" y="1590149"/>
            <a:ext cx="1416595" cy="369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18"/>
          <p:cNvCxnSpPr/>
          <p:nvPr/>
        </p:nvCxnSpPr>
        <p:spPr>
          <a:xfrm>
            <a:off x="3856768" y="4316431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3" name="Google Shape;463;p18"/>
          <p:cNvCxnSpPr/>
          <p:nvPr/>
        </p:nvCxnSpPr>
        <p:spPr>
          <a:xfrm rot="10800000">
            <a:off x="4554844" y="2622649"/>
            <a:ext cx="13055" cy="169378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4" name="Google Shape;464;p18"/>
          <p:cNvCxnSpPr/>
          <p:nvPr/>
        </p:nvCxnSpPr>
        <p:spPr>
          <a:xfrm flipH="1" rot="10800000">
            <a:off x="4554844" y="2622649"/>
            <a:ext cx="718348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5" name="Google Shape;465;p18"/>
          <p:cNvCxnSpPr/>
          <p:nvPr/>
        </p:nvCxnSpPr>
        <p:spPr>
          <a:xfrm>
            <a:off x="5273192" y="2613154"/>
            <a:ext cx="13055" cy="1053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6" name="Google Shape;466;p18"/>
          <p:cNvCxnSpPr/>
          <p:nvPr/>
        </p:nvCxnSpPr>
        <p:spPr>
          <a:xfrm flipH="1" rot="10800000">
            <a:off x="5952563" y="4293667"/>
            <a:ext cx="465206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p18"/>
          <p:cNvCxnSpPr/>
          <p:nvPr/>
        </p:nvCxnSpPr>
        <p:spPr>
          <a:xfrm rot="10800000">
            <a:off x="6353845" y="2599885"/>
            <a:ext cx="13055" cy="169378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18"/>
          <p:cNvCxnSpPr/>
          <p:nvPr/>
        </p:nvCxnSpPr>
        <p:spPr>
          <a:xfrm flipH="1" rot="10800000">
            <a:off x="6353845" y="2599885"/>
            <a:ext cx="718348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18"/>
          <p:cNvCxnSpPr/>
          <p:nvPr/>
        </p:nvCxnSpPr>
        <p:spPr>
          <a:xfrm>
            <a:off x="7072193" y="2590390"/>
            <a:ext cx="13055" cy="10538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0" name="Google Shape;470;p18"/>
          <p:cNvCxnSpPr/>
          <p:nvPr/>
        </p:nvCxnSpPr>
        <p:spPr>
          <a:xfrm>
            <a:off x="7547307" y="4243220"/>
            <a:ext cx="41335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1" name="Google Shape;471;p18"/>
          <p:cNvCxnSpPr/>
          <p:nvPr/>
        </p:nvCxnSpPr>
        <p:spPr>
          <a:xfrm rot="10800000">
            <a:off x="7896736" y="2549439"/>
            <a:ext cx="13054" cy="169378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18"/>
          <p:cNvCxnSpPr/>
          <p:nvPr/>
        </p:nvCxnSpPr>
        <p:spPr>
          <a:xfrm flipH="1" rot="10800000">
            <a:off x="7896735" y="2539943"/>
            <a:ext cx="490033" cy="949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18"/>
          <p:cNvCxnSpPr/>
          <p:nvPr/>
        </p:nvCxnSpPr>
        <p:spPr>
          <a:xfrm>
            <a:off x="8380883" y="2539943"/>
            <a:ext cx="5885" cy="12111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4" name="Google Shape;474;p18"/>
          <p:cNvCxnSpPr/>
          <p:nvPr/>
        </p:nvCxnSpPr>
        <p:spPr>
          <a:xfrm>
            <a:off x="9006140" y="4229514"/>
            <a:ext cx="41335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5" name="Google Shape;475;p18"/>
          <p:cNvCxnSpPr/>
          <p:nvPr/>
        </p:nvCxnSpPr>
        <p:spPr>
          <a:xfrm rot="10800000">
            <a:off x="9355569" y="2535733"/>
            <a:ext cx="13054" cy="169378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6" name="Google Shape;476;p18"/>
          <p:cNvCxnSpPr/>
          <p:nvPr/>
        </p:nvCxnSpPr>
        <p:spPr>
          <a:xfrm flipH="1" rot="10800000">
            <a:off x="9355568" y="2526237"/>
            <a:ext cx="490033" cy="949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7" name="Google Shape;477;p18"/>
          <p:cNvCxnSpPr/>
          <p:nvPr/>
        </p:nvCxnSpPr>
        <p:spPr>
          <a:xfrm>
            <a:off x="9839716" y="2526237"/>
            <a:ext cx="5885" cy="12111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8" name="Google Shape;478;p18"/>
          <p:cNvSpPr txBox="1"/>
          <p:nvPr/>
        </p:nvSpPr>
        <p:spPr>
          <a:xfrm>
            <a:off x="983958" y="4903664"/>
            <a:ext cx="964602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Successive states are given as model inputs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state must contain all the useful information from the previous sequence.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end, the report contains all the relevant information in the sentence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2307332" y="587114"/>
            <a:ext cx="67001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480" name="Google Shape;480;p18"/>
          <p:cNvSpPr txBox="1"/>
          <p:nvPr/>
        </p:nvSpPr>
        <p:spPr>
          <a:xfrm>
            <a:off x="811836" y="144535"/>
            <a:ext cx="14169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general idea of recurrent networks is to go through each word and evolve a state vector.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19"/>
          <p:cNvPicPr preferRelativeResize="0"/>
          <p:nvPr/>
        </p:nvPicPr>
        <p:blipFill rotWithShape="1">
          <a:blip r:embed="rId3">
            <a:alphaModFix/>
          </a:blip>
          <a:srcRect b="43805" l="69688" r="0" t="6258"/>
          <a:stretch/>
        </p:blipFill>
        <p:spPr>
          <a:xfrm>
            <a:off x="7835153" y="585232"/>
            <a:ext cx="2756647" cy="2946862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9"/>
          <p:cNvSpPr/>
          <p:nvPr/>
        </p:nvSpPr>
        <p:spPr>
          <a:xfrm>
            <a:off x="1600200" y="3937000"/>
            <a:ext cx="8102600" cy="1092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1453130" y="5649708"/>
            <a:ext cx="9953064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228" l="0" r="0" t="-76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8" name="Google Shape;488;p19"/>
          <p:cNvSpPr txBox="1"/>
          <p:nvPr/>
        </p:nvSpPr>
        <p:spPr>
          <a:xfrm>
            <a:off x="4285129" y="161365"/>
            <a:ext cx="36934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principle of a RNN</a:t>
            </a:r>
            <a:endParaRPr/>
          </a:p>
        </p:txBody>
      </p:sp>
      <p:sp>
        <p:nvSpPr>
          <p:cNvPr id="489" name="Google Shape;489;p19"/>
          <p:cNvSpPr txBox="1"/>
          <p:nvPr/>
        </p:nvSpPr>
        <p:spPr>
          <a:xfrm>
            <a:off x="1925444" y="1353670"/>
            <a:ext cx="4241930" cy="8029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0" name="Google Shape;490;p19"/>
          <p:cNvSpPr txBox="1"/>
          <p:nvPr/>
        </p:nvSpPr>
        <p:spPr>
          <a:xfrm>
            <a:off x="1600200" y="4566429"/>
            <a:ext cx="7700682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0177" l="-870" r="0" t="-239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1067074" y="3259703"/>
            <a:ext cx="1716740" cy="3808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2238936" y="3216128"/>
            <a:ext cx="99530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at time t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1067074" y="3698386"/>
            <a:ext cx="1716740" cy="3808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4" name="Google Shape;494;p19"/>
          <p:cNvSpPr txBox="1"/>
          <p:nvPr/>
        </p:nvSpPr>
        <p:spPr>
          <a:xfrm>
            <a:off x="2238936" y="3728175"/>
            <a:ext cx="99530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at time t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20"/>
          <p:cNvPicPr preferRelativeResize="0"/>
          <p:nvPr/>
        </p:nvPicPr>
        <p:blipFill rotWithShape="1">
          <a:blip r:embed="rId3">
            <a:alphaModFix/>
          </a:blip>
          <a:srcRect b="0" l="0" r="0" t="11634"/>
          <a:stretch/>
        </p:blipFill>
        <p:spPr>
          <a:xfrm>
            <a:off x="1100340" y="797858"/>
            <a:ext cx="9991320" cy="6060141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0"/>
          <p:cNvSpPr txBox="1"/>
          <p:nvPr/>
        </p:nvSpPr>
        <p:spPr>
          <a:xfrm>
            <a:off x="968189" y="797859"/>
            <a:ext cx="8292351" cy="23083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inference (i.e. applying the model to data) we calculate sample after sample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calculate the gradient, we calculate sample after sample in descending order.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parallelism between time samples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and inference time often significant</a:t>
            </a:r>
            <a:endParaRPr/>
          </a:p>
        </p:txBody>
      </p:sp>
      <p:sp>
        <p:nvSpPr>
          <p:cNvPr id="501" name="Google Shape;501;p20"/>
          <p:cNvSpPr txBox="1"/>
          <p:nvPr/>
        </p:nvSpPr>
        <p:spPr>
          <a:xfrm>
            <a:off x="968189" y="3124618"/>
            <a:ext cx="60960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 txBox="1"/>
          <p:nvPr/>
        </p:nvSpPr>
        <p:spPr>
          <a:xfrm>
            <a:off x="1219200" y="3309284"/>
            <a:ext cx="60960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1219200" y="3059668"/>
            <a:ext cx="60960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2411506" y="161365"/>
            <a:ext cx="75393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Inference and gradient on the unrolled graph 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21"/>
          <p:cNvPicPr preferRelativeResize="0"/>
          <p:nvPr/>
        </p:nvPicPr>
        <p:blipFill rotWithShape="1">
          <a:blip r:embed="rId3">
            <a:alphaModFix/>
          </a:blip>
          <a:srcRect b="61167" l="-1" r="31062" t="28103"/>
          <a:stretch/>
        </p:blipFill>
        <p:spPr>
          <a:xfrm>
            <a:off x="4734215" y="1810125"/>
            <a:ext cx="6265480" cy="73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1"/>
          <p:cNvPicPr preferRelativeResize="0"/>
          <p:nvPr/>
        </p:nvPicPr>
        <p:blipFill rotWithShape="1">
          <a:blip r:embed="rId4">
            <a:alphaModFix/>
          </a:blip>
          <a:srcRect b="25098" l="68840" r="0" t="15033"/>
          <a:stretch/>
        </p:blipFill>
        <p:spPr>
          <a:xfrm>
            <a:off x="503297" y="561328"/>
            <a:ext cx="2831998" cy="41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1"/>
          <p:cNvSpPr txBox="1"/>
          <p:nvPr/>
        </p:nvSpPr>
        <p:spPr>
          <a:xfrm>
            <a:off x="2958353" y="188259"/>
            <a:ext cx="5629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Vanilla RNN</a:t>
            </a:r>
            <a:endParaRPr/>
          </a:p>
        </p:txBody>
      </p:sp>
      <p:cxnSp>
        <p:nvCxnSpPr>
          <p:cNvPr id="512" name="Google Shape;512;p21"/>
          <p:cNvCxnSpPr/>
          <p:nvPr/>
        </p:nvCxnSpPr>
        <p:spPr>
          <a:xfrm flipH="1" rot="10800000">
            <a:off x="6562165" y="1398494"/>
            <a:ext cx="788894" cy="5916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3" name="Google Shape;513;p21"/>
          <p:cNvSpPr txBox="1"/>
          <p:nvPr/>
        </p:nvSpPr>
        <p:spPr>
          <a:xfrm>
            <a:off x="6096000" y="795769"/>
            <a:ext cx="58015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Activation function often used to obtain a state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-1 and 1 (unbiased variant of the sigmoid)</a:t>
            </a:r>
            <a:endParaRPr/>
          </a:p>
        </p:txBody>
      </p:sp>
      <p:sp>
        <p:nvSpPr>
          <p:cNvPr id="514" name="Google Shape;514;p21"/>
          <p:cNvSpPr txBox="1"/>
          <p:nvPr/>
        </p:nvSpPr>
        <p:spPr>
          <a:xfrm>
            <a:off x="3830159" y="2569342"/>
            <a:ext cx="8361841" cy="3879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999" l="-582" r="-291" t="-15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15" name="Google Shape;515;p21"/>
          <p:cNvSpPr txBox="1"/>
          <p:nvPr/>
        </p:nvSpPr>
        <p:spPr>
          <a:xfrm>
            <a:off x="5138057" y="3368564"/>
            <a:ext cx="5468164" cy="8638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000" r="-109" t="-42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22"/>
          <p:cNvPicPr preferRelativeResize="0"/>
          <p:nvPr/>
        </p:nvPicPr>
        <p:blipFill rotWithShape="1">
          <a:blip r:embed="rId3">
            <a:alphaModFix/>
          </a:blip>
          <a:srcRect b="0" l="0" r="0" t="27767"/>
          <a:stretch/>
        </p:blipFill>
        <p:spPr>
          <a:xfrm>
            <a:off x="1548063" y="1781666"/>
            <a:ext cx="9095874" cy="495378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2"/>
          <p:cNvSpPr txBox="1"/>
          <p:nvPr/>
        </p:nvSpPr>
        <p:spPr>
          <a:xfrm>
            <a:off x="2958353" y="188259"/>
            <a:ext cx="5629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Unrolled Vanilla RNN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23"/>
          <p:cNvPicPr preferRelativeResize="0"/>
          <p:nvPr/>
        </p:nvPicPr>
        <p:blipFill rotWithShape="1">
          <a:blip r:embed="rId3">
            <a:alphaModFix/>
          </a:blip>
          <a:srcRect b="23984" l="7009" r="0" t="22544"/>
          <a:stretch/>
        </p:blipFill>
        <p:spPr>
          <a:xfrm>
            <a:off x="1112361" y="1595486"/>
            <a:ext cx="8740729" cy="366702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3"/>
          <p:cNvSpPr txBox="1"/>
          <p:nvPr/>
        </p:nvSpPr>
        <p:spPr>
          <a:xfrm>
            <a:off x="5554514" y="949155"/>
            <a:ext cx="19020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Asynchronous Many-To-Many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4088041" y="179714"/>
            <a:ext cx="5629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 topology</a:t>
            </a:r>
            <a:endParaRPr/>
          </a:p>
        </p:txBody>
      </p:sp>
      <p:sp>
        <p:nvSpPr>
          <p:cNvPr id="529" name="Google Shape;529;p23"/>
          <p:cNvSpPr txBox="1"/>
          <p:nvPr/>
        </p:nvSpPr>
        <p:spPr>
          <a:xfrm>
            <a:off x="7990304" y="949155"/>
            <a:ext cx="19020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Synchronized Many-To-Many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3189469" y="1151657"/>
            <a:ext cx="20244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Many-To-One</a:t>
            </a: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1464394" y="1226154"/>
            <a:ext cx="19020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1234909" y="5262513"/>
            <a:ext cx="19020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Image captioning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3136997" y="5298656"/>
            <a:ext cx="19020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From a signal, estimate an indicator</a:t>
            </a:r>
            <a:endParaRPr/>
          </a:p>
        </p:txBody>
      </p:sp>
      <p:sp>
        <p:nvSpPr>
          <p:cNvPr id="534" name="Google Shape;534;p23"/>
          <p:cNvSpPr txBox="1"/>
          <p:nvPr/>
        </p:nvSpPr>
        <p:spPr>
          <a:xfrm>
            <a:off x="5287663" y="5370200"/>
            <a:ext cx="243579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Automatic text translation or summarization. (Variable input and output size)</a:t>
            </a:r>
            <a:endParaRPr/>
          </a:p>
        </p:txBody>
      </p:sp>
      <p:sp>
        <p:nvSpPr>
          <p:cNvPr id="535" name="Google Shape;535;p23"/>
          <p:cNvSpPr txBox="1"/>
          <p:nvPr/>
        </p:nvSpPr>
        <p:spPr>
          <a:xfrm>
            <a:off x="7723453" y="5308679"/>
            <a:ext cx="24357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Real-time detection of sleep apnea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"/>
          <p:cNvSpPr txBox="1"/>
          <p:nvPr/>
        </p:nvSpPr>
        <p:spPr>
          <a:xfrm>
            <a:off x="2958353" y="188259"/>
            <a:ext cx="5629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 topology</a:t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798969" y="1454159"/>
            <a:ext cx="89766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Many-To-One: would correspond to a classic CNN architecture, but RNN makes it easier to add variable-size inputs. </a:t>
            </a:r>
            <a:endParaRPr/>
          </a:p>
        </p:txBody>
      </p:sp>
      <p:sp>
        <p:nvSpPr>
          <p:cNvPr id="542" name="Google Shape;542;p24"/>
          <p:cNvSpPr txBox="1"/>
          <p:nvPr/>
        </p:nvSpPr>
        <p:spPr>
          <a:xfrm>
            <a:off x="714309" y="946437"/>
            <a:ext cx="27076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few comments:</a:t>
            </a:r>
            <a:endParaRPr/>
          </a:p>
        </p:txBody>
      </p:sp>
      <p:sp>
        <p:nvSpPr>
          <p:cNvPr id="543" name="Google Shape;543;p24"/>
          <p:cNvSpPr txBox="1"/>
          <p:nvPr/>
        </p:nvSpPr>
        <p:spPr>
          <a:xfrm>
            <a:off x="714309" y="3093627"/>
            <a:ext cx="897662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 One » and « Many » refers to the number of sequential samples, not the actual number of input or output variables. : </a:t>
            </a:r>
            <a:b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"From a fetal heart rate signal, predict the fetal blood pH and pCO2 after delivery" is still Many to One, as there is only one output sample, even if there are 2 values (pH and PCO2).</a:t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798969" y="2273893"/>
            <a:ext cx="89766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Synchronized Many-To-Many: corresponds to a U-NET/auto-encoder architecture, but makes it easier to add variable-size inputs. 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25"/>
          <p:cNvPicPr preferRelativeResize="0"/>
          <p:nvPr/>
        </p:nvPicPr>
        <p:blipFill rotWithShape="1">
          <a:blip r:embed="rId3">
            <a:alphaModFix/>
          </a:blip>
          <a:srcRect b="0" l="0" r="0" t="32026"/>
          <a:stretch/>
        </p:blipFill>
        <p:spPr>
          <a:xfrm>
            <a:off x="1602537" y="2196352"/>
            <a:ext cx="8986926" cy="466164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5"/>
          <p:cNvSpPr txBox="1"/>
          <p:nvPr/>
        </p:nvSpPr>
        <p:spPr>
          <a:xfrm>
            <a:off x="3048000" y="116541"/>
            <a:ext cx="5629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Asynchronous Many-To-Many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5"/>
          <p:cNvSpPr txBox="1"/>
          <p:nvPr/>
        </p:nvSpPr>
        <p:spPr>
          <a:xfrm>
            <a:off x="6702458" y="5310802"/>
            <a:ext cx="34972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decoder generates a sequence from a semantic summary</a:t>
            </a:r>
            <a:endParaRPr/>
          </a:p>
        </p:txBody>
      </p:sp>
      <p:sp>
        <p:nvSpPr>
          <p:cNvPr id="552" name="Google Shape;552;p25"/>
          <p:cNvSpPr txBox="1"/>
          <p:nvPr/>
        </p:nvSpPr>
        <p:spPr>
          <a:xfrm>
            <a:off x="2067153" y="2722624"/>
            <a:ext cx="3673215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summary containing all useful sequence information</a:t>
            </a:r>
            <a:endParaRPr/>
          </a:p>
        </p:txBody>
      </p:sp>
      <p:sp>
        <p:nvSpPr>
          <p:cNvPr id="553" name="Google Shape;553;p25"/>
          <p:cNvSpPr txBox="1"/>
          <p:nvPr/>
        </p:nvSpPr>
        <p:spPr>
          <a:xfrm>
            <a:off x="3029243" y="6448489"/>
            <a:ext cx="3673215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/>
          </a:p>
        </p:txBody>
      </p:sp>
      <p:sp>
        <p:nvSpPr>
          <p:cNvPr id="554" name="Google Shape;554;p25"/>
          <p:cNvSpPr txBox="1"/>
          <p:nvPr/>
        </p:nvSpPr>
        <p:spPr>
          <a:xfrm>
            <a:off x="7390614" y="2353292"/>
            <a:ext cx="2985059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6"/>
          <p:cNvSpPr txBox="1"/>
          <p:nvPr/>
        </p:nvSpPr>
        <p:spPr>
          <a:xfrm>
            <a:off x="262783" y="105795"/>
            <a:ext cx="9993579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Auto-regression principle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generate text with a One-To-Many architecture or the decoder part of an Async Many-To-Many: we obtain a probability distribution for each word (or token).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next step is to select a word, usually the most probable or one of the most probable. This choice directly influences the following words, making it difficult to encapsulate the information in a semantic summary.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manage this dependency, we apply an </a:t>
            </a: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auto-regression </a:t>
            </a: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selected word is fed back into the input (in the form of one-hot encoding or embedding) to generate the next word.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7"/>
          <p:cNvPicPr preferRelativeResize="0"/>
          <p:nvPr/>
        </p:nvPicPr>
        <p:blipFill rotWithShape="1">
          <a:blip r:embed="rId3">
            <a:alphaModFix/>
          </a:blip>
          <a:srcRect b="0" l="31786" r="0" t="6535"/>
          <a:stretch/>
        </p:blipFill>
        <p:spPr>
          <a:xfrm>
            <a:off x="4984377" y="448234"/>
            <a:ext cx="6244770" cy="640976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7"/>
          <p:cNvSpPr txBox="1"/>
          <p:nvPr/>
        </p:nvSpPr>
        <p:spPr>
          <a:xfrm>
            <a:off x="5405718" y="78902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566" name="Google Shape;566;p27"/>
          <p:cNvSpPr txBox="1"/>
          <p:nvPr/>
        </p:nvSpPr>
        <p:spPr>
          <a:xfrm>
            <a:off x="6473378" y="78902"/>
            <a:ext cx="235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67" name="Google Shape;567;p27"/>
          <p:cNvSpPr txBox="1"/>
          <p:nvPr/>
        </p:nvSpPr>
        <p:spPr>
          <a:xfrm>
            <a:off x="7665621" y="78902"/>
            <a:ext cx="235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8758517" y="105795"/>
            <a:ext cx="370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569" name="Google Shape;569;p27"/>
          <p:cNvSpPr txBox="1"/>
          <p:nvPr/>
        </p:nvSpPr>
        <p:spPr>
          <a:xfrm>
            <a:off x="9950760" y="87863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&lt;end&gt;</a:t>
            </a:r>
            <a:endParaRPr/>
          </a:p>
        </p:txBody>
      </p:sp>
      <p:sp>
        <p:nvSpPr>
          <p:cNvPr id="570" name="Google Shape;570;p27"/>
          <p:cNvSpPr txBox="1"/>
          <p:nvPr/>
        </p:nvSpPr>
        <p:spPr>
          <a:xfrm>
            <a:off x="262784" y="105795"/>
            <a:ext cx="4721594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Auto-regression principle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in the letter-by-letter word generation system. The predicted letter (the one with the highest estimated probability) is used as input to predict the next letter.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Auto-regression can be seen as a 4</a:t>
            </a:r>
            <a:r>
              <a:rPr baseline="30000" i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i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of generation (other than auto-encoders, GANs, diffusion models) but it applies mainly to text (or proteins/ADN for alphafold)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8"/>
          <p:cNvSpPr txBox="1"/>
          <p:nvPr/>
        </p:nvSpPr>
        <p:spPr>
          <a:xfrm>
            <a:off x="1960685" y="2197879"/>
            <a:ext cx="808013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Example 1 To understand the meaning of a word, you sometimes need to know the words after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Example 2 in signal processing: to know the hidden state, it is useful to know what happens next.</a:t>
            </a:r>
            <a:endParaRPr/>
          </a:p>
        </p:txBody>
      </p:sp>
      <p:sp>
        <p:nvSpPr>
          <p:cNvPr id="576" name="Google Shape;576;p28"/>
          <p:cNvSpPr txBox="1"/>
          <p:nvPr/>
        </p:nvSpPr>
        <p:spPr>
          <a:xfrm>
            <a:off x="3225448" y="206417"/>
            <a:ext cx="808013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Bidirectional RNN</a:t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1720835" y="1079037"/>
            <a:ext cx="80801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output o</a:t>
            </a:r>
            <a:r>
              <a:rPr baseline="30000"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 </a:t>
            </a: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depend on the entire sequence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Relevant information is sometimes available after input x</a:t>
            </a:r>
            <a:r>
              <a:rPr baseline="30000"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1720835" y="4758727"/>
            <a:ext cx="80801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then possible to apply one RNN in the normal direction and another RNN in the opposite direction.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9"/>
          <p:cNvPicPr preferRelativeResize="0"/>
          <p:nvPr/>
        </p:nvPicPr>
        <p:blipFill rotWithShape="1">
          <a:blip r:embed="rId3">
            <a:alphaModFix/>
          </a:blip>
          <a:srcRect b="0" l="0" r="0" t="25159"/>
          <a:stretch/>
        </p:blipFill>
        <p:spPr>
          <a:xfrm>
            <a:off x="637753" y="862709"/>
            <a:ext cx="9860692" cy="5132582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9"/>
          <p:cNvSpPr txBox="1"/>
          <p:nvPr/>
        </p:nvSpPr>
        <p:spPr>
          <a:xfrm>
            <a:off x="3225448" y="206417"/>
            <a:ext cx="808013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Bidirectional RNN</a:t>
            </a:r>
            <a:endParaRPr/>
          </a:p>
        </p:txBody>
      </p:sp>
      <p:sp>
        <p:nvSpPr>
          <p:cNvPr id="585" name="Google Shape;585;p29"/>
          <p:cNvSpPr txBox="1"/>
          <p:nvPr/>
        </p:nvSpPr>
        <p:spPr>
          <a:xfrm>
            <a:off x="1058854" y="862709"/>
            <a:ext cx="1929443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acausal</a:t>
            </a:r>
            <a:endParaRPr/>
          </a:p>
        </p:txBody>
      </p:sp>
      <p:sp>
        <p:nvSpPr>
          <p:cNvPr id="586" name="Google Shape;586;p29"/>
          <p:cNvSpPr txBox="1"/>
          <p:nvPr/>
        </p:nvSpPr>
        <p:spPr>
          <a:xfrm>
            <a:off x="711633" y="2334861"/>
            <a:ext cx="217296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anticausal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815328" y="3675038"/>
            <a:ext cx="217296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causal</a:t>
            </a:r>
            <a:endParaRPr/>
          </a:p>
        </p:txBody>
      </p:sp>
      <p:sp>
        <p:nvSpPr>
          <p:cNvPr id="588" name="Google Shape;588;p29"/>
          <p:cNvSpPr txBox="1"/>
          <p:nvPr/>
        </p:nvSpPr>
        <p:spPr>
          <a:xfrm>
            <a:off x="937090" y="6080604"/>
            <a:ext cx="11006671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output o</a:t>
            </a:r>
            <a:r>
              <a:rPr baseline="30000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concatenation of g</a:t>
            </a:r>
            <a:r>
              <a:rPr baseline="30000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h</a:t>
            </a:r>
            <a:r>
              <a:rPr baseline="30000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123" y="-76603"/>
            <a:ext cx="92437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0"/>
          <p:cNvSpPr txBox="1"/>
          <p:nvPr/>
        </p:nvSpPr>
        <p:spPr>
          <a:xfrm>
            <a:off x="6311153" y="5459506"/>
            <a:ext cx="4294094" cy="5199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1407459" y="551418"/>
            <a:ext cx="9599212" cy="16004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Long-range influence is difficult in RNN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CNN: Depth-increasing receptive field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RNN: exponential decrease in influence</a:t>
            </a:r>
            <a:endParaRPr/>
          </a:p>
          <a:p>
            <a:pPr indent="-3683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0"/>
          <p:cNvSpPr txBox="1"/>
          <p:nvPr/>
        </p:nvSpPr>
        <p:spPr>
          <a:xfrm>
            <a:off x="7813250" y="2151487"/>
            <a:ext cx="3049024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</p:txBody>
      </p:sp>
      <p:sp>
        <p:nvSpPr>
          <p:cNvPr id="597" name="Google Shape;597;p30"/>
          <p:cNvSpPr txBox="1"/>
          <p:nvPr/>
        </p:nvSpPr>
        <p:spPr>
          <a:xfrm>
            <a:off x="1185328" y="2597082"/>
            <a:ext cx="2448158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One-directional RNN   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1185328" y="3905926"/>
            <a:ext cx="2448158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Bidirectional RNN   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1036070" y="5459506"/>
            <a:ext cx="2448158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Ground truth (impossible with RNN)</a:t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5107609" y="2443874"/>
            <a:ext cx="1948645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Influence on</a:t>
            </a:r>
            <a:endParaRPr/>
          </a:p>
        </p:txBody>
      </p:sp>
      <p:sp>
        <p:nvSpPr>
          <p:cNvPr id="601" name="Google Shape;601;p30"/>
          <p:cNvSpPr txBox="1"/>
          <p:nvPr/>
        </p:nvSpPr>
        <p:spPr>
          <a:xfrm>
            <a:off x="159030" y="-10671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 range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"/>
          <p:cNvSpPr/>
          <p:nvPr/>
        </p:nvSpPr>
        <p:spPr>
          <a:xfrm>
            <a:off x="878541" y="1604682"/>
            <a:ext cx="4742330" cy="6185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117535" y="882445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 Short Term Memory (LSTM) (1997)</a:t>
            </a:r>
            <a:endParaRPr/>
          </a:p>
        </p:txBody>
      </p:sp>
      <p:sp>
        <p:nvSpPr>
          <p:cNvPr id="608" name="Google Shape;608;p31"/>
          <p:cNvSpPr txBox="1"/>
          <p:nvPr/>
        </p:nvSpPr>
        <p:spPr>
          <a:xfrm>
            <a:off x="1253765" y="1604682"/>
            <a:ext cx="891775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Solving RNN problems: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Long-range difficulty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Vanishing gradient (derivatives for older samples tend to decline exponentially)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idea: c-state cell(s)</a:t>
            </a:r>
            <a:r>
              <a:rPr baseline="-25000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Information can be added/removed/exposed via gates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32"/>
          <p:cNvPicPr preferRelativeResize="0"/>
          <p:nvPr/>
        </p:nvPicPr>
        <p:blipFill rotWithShape="1">
          <a:blip r:embed="rId3">
            <a:alphaModFix/>
          </a:blip>
          <a:srcRect b="0" l="0" r="0" t="11272"/>
          <a:stretch/>
        </p:blipFill>
        <p:spPr>
          <a:xfrm>
            <a:off x="1507613" y="772998"/>
            <a:ext cx="9176774" cy="608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2"/>
          <p:cNvPicPr preferRelativeResize="0"/>
          <p:nvPr/>
        </p:nvPicPr>
        <p:blipFill rotWithShape="1">
          <a:blip r:embed="rId4">
            <a:alphaModFix/>
          </a:blip>
          <a:srcRect b="0" l="31641" r="33506" t="0"/>
          <a:stretch/>
        </p:blipFill>
        <p:spPr>
          <a:xfrm>
            <a:off x="10044308" y="84594"/>
            <a:ext cx="2223368" cy="2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2"/>
          <p:cNvSpPr txBox="1"/>
          <p:nvPr/>
        </p:nvSpPr>
        <p:spPr>
          <a:xfrm>
            <a:off x="1264024" y="636494"/>
            <a:ext cx="4724400" cy="15060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2"/>
          <p:cNvSpPr txBox="1"/>
          <p:nvPr/>
        </p:nvSpPr>
        <p:spPr>
          <a:xfrm>
            <a:off x="324925" y="10359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</a:t>
            </a:r>
            <a:endParaRPr/>
          </a:p>
        </p:txBody>
      </p:sp>
      <p:sp>
        <p:nvSpPr>
          <p:cNvPr id="617" name="Google Shape;617;p32"/>
          <p:cNvSpPr txBox="1"/>
          <p:nvPr/>
        </p:nvSpPr>
        <p:spPr>
          <a:xfrm>
            <a:off x="9035640" y="2540578"/>
            <a:ext cx="2017336" cy="16312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Cell state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(Can modify, highway, long-term memory)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2"/>
          <p:cNvSpPr txBox="1"/>
          <p:nvPr/>
        </p:nvSpPr>
        <p:spPr>
          <a:xfrm>
            <a:off x="10509515" y="1943528"/>
            <a:ext cx="1644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 vanilla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2"/>
          <p:cNvSpPr txBox="1"/>
          <p:nvPr/>
        </p:nvSpPr>
        <p:spPr>
          <a:xfrm>
            <a:off x="8026972" y="772998"/>
            <a:ext cx="2017336" cy="16312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Hidden state </a:t>
            </a:r>
            <a:r>
              <a:rPr lang="fr-FR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(quickly affected, short-term memory)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5052" y="0"/>
            <a:ext cx="87018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3"/>
          <p:cNvSpPr txBox="1"/>
          <p:nvPr/>
        </p:nvSpPr>
        <p:spPr>
          <a:xfrm>
            <a:off x="324925" y="10359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Unrolled LSTM</a:t>
            </a:r>
            <a:endParaRPr/>
          </a:p>
        </p:txBody>
      </p:sp>
      <p:sp>
        <p:nvSpPr>
          <p:cNvPr id="626" name="Google Shape;626;p33"/>
          <p:cNvSpPr txBox="1"/>
          <p:nvPr/>
        </p:nvSpPr>
        <p:spPr>
          <a:xfrm>
            <a:off x="2309567" y="879196"/>
            <a:ext cx="902202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complete state is (h</a:t>
            </a:r>
            <a:r>
              <a:rPr baseline="-25000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,c )</a:t>
            </a:r>
            <a:r>
              <a:rPr baseline="-25000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770" y="0"/>
            <a:ext cx="92644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4"/>
          <p:cNvSpPr txBox="1"/>
          <p:nvPr/>
        </p:nvSpPr>
        <p:spPr>
          <a:xfrm>
            <a:off x="324925" y="10359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LSTM: stage 1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1185329" y="776051"/>
            <a:ext cx="11006671" cy="10772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information to remove or keep from the cell (forget gate)</a:t>
            </a:r>
            <a:endParaRPr/>
          </a:p>
        </p:txBody>
      </p:sp>
      <p:sp>
        <p:nvSpPr>
          <p:cNvPr id="634" name="Google Shape;634;p34"/>
          <p:cNvSpPr txBox="1"/>
          <p:nvPr/>
        </p:nvSpPr>
        <p:spPr>
          <a:xfrm flipH="1" rot="10800000">
            <a:off x="8257881" y="2427625"/>
            <a:ext cx="3299381" cy="10772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4"/>
          <p:cNvSpPr txBox="1"/>
          <p:nvPr/>
        </p:nvSpPr>
        <p:spPr>
          <a:xfrm flipH="1" rot="10800000">
            <a:off x="0" y="3070219"/>
            <a:ext cx="3299381" cy="10772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35"/>
          <p:cNvPicPr preferRelativeResize="0"/>
          <p:nvPr/>
        </p:nvPicPr>
        <p:blipFill rotWithShape="1">
          <a:blip r:embed="rId3">
            <a:alphaModFix/>
          </a:blip>
          <a:srcRect b="0" l="0" r="0" t="46048"/>
          <a:stretch/>
        </p:blipFill>
        <p:spPr>
          <a:xfrm>
            <a:off x="1430917" y="3157978"/>
            <a:ext cx="9330166" cy="370002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5"/>
          <p:cNvSpPr txBox="1"/>
          <p:nvPr/>
        </p:nvSpPr>
        <p:spPr>
          <a:xfrm>
            <a:off x="240083" y="114054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LSTM: stage 2</a:t>
            </a:r>
            <a:endParaRPr/>
          </a:p>
        </p:txBody>
      </p:sp>
      <p:sp>
        <p:nvSpPr>
          <p:cNvPr id="642" name="Google Shape;642;p35"/>
          <p:cNvSpPr txBox="1"/>
          <p:nvPr/>
        </p:nvSpPr>
        <p:spPr>
          <a:xfrm>
            <a:off x="1185329" y="776051"/>
            <a:ext cx="11006671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information to be added in the cell</a:t>
            </a:r>
            <a:endParaRPr/>
          </a:p>
        </p:txBody>
      </p:sp>
      <p:sp>
        <p:nvSpPr>
          <p:cNvPr id="643" name="Google Shape;643;p35"/>
          <p:cNvSpPr txBox="1"/>
          <p:nvPr/>
        </p:nvSpPr>
        <p:spPr>
          <a:xfrm>
            <a:off x="1281168" y="3853206"/>
            <a:ext cx="338510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for change quantity</a:t>
            </a:r>
            <a:endParaRPr/>
          </a:p>
        </p:txBody>
      </p:sp>
      <p:sp>
        <p:nvSpPr>
          <p:cNvPr id="644" name="Google Shape;644;p35"/>
          <p:cNvSpPr txBox="1"/>
          <p:nvPr/>
        </p:nvSpPr>
        <p:spPr>
          <a:xfrm>
            <a:off x="7110075" y="3685184"/>
            <a:ext cx="3298688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vector to add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36"/>
          <p:cNvPicPr preferRelativeResize="0"/>
          <p:nvPr/>
        </p:nvPicPr>
        <p:blipFill rotWithShape="1">
          <a:blip r:embed="rId3">
            <a:alphaModFix/>
          </a:blip>
          <a:srcRect b="0" l="0" r="0" t="34502"/>
          <a:stretch/>
        </p:blipFill>
        <p:spPr>
          <a:xfrm>
            <a:off x="1556658" y="2366128"/>
            <a:ext cx="8777340" cy="4491872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6"/>
          <p:cNvSpPr txBox="1"/>
          <p:nvPr/>
        </p:nvSpPr>
        <p:spPr>
          <a:xfrm>
            <a:off x="240083" y="114054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LSTM: stage 3</a:t>
            </a:r>
            <a:endParaRPr/>
          </a:p>
        </p:txBody>
      </p:sp>
      <p:sp>
        <p:nvSpPr>
          <p:cNvPr id="651" name="Google Shape;651;p36"/>
          <p:cNvSpPr txBox="1"/>
          <p:nvPr/>
        </p:nvSpPr>
        <p:spPr>
          <a:xfrm>
            <a:off x="1980550" y="1517715"/>
            <a:ext cx="68500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hidden state h</a:t>
            </a:r>
            <a:r>
              <a:rPr baseline="-25000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output of tanh(c</a:t>
            </a:r>
            <a:r>
              <a:rPr baseline="-25000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modulated by the output gate.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10719" l="0" r="0" t="44673"/>
          <a:stretch/>
        </p:blipFill>
        <p:spPr>
          <a:xfrm>
            <a:off x="1524000" y="3063711"/>
            <a:ext cx="9144000" cy="305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7"/>
          <p:cNvSpPr txBox="1"/>
          <p:nvPr/>
        </p:nvSpPr>
        <p:spPr>
          <a:xfrm>
            <a:off x="240083" y="114054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Gated Recurrent Unit (GRU)</a:t>
            </a:r>
            <a:endParaRPr/>
          </a:p>
        </p:txBody>
      </p:sp>
      <p:sp>
        <p:nvSpPr>
          <p:cNvPr id="658" name="Google Shape;658;p37"/>
          <p:cNvSpPr txBox="1"/>
          <p:nvPr/>
        </p:nvSpPr>
        <p:spPr>
          <a:xfrm>
            <a:off x="1771654" y="948921"/>
            <a:ext cx="677300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simpler but equally effective variant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forget and input gate =&gt; update gate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hidden/cell separation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parameters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3308808" y="1734532"/>
            <a:ext cx="5797485" cy="1338606"/>
          </a:xfrm>
          <a:custGeom>
            <a:rect b="b" l="l" r="r" t="t"/>
            <a:pathLst>
              <a:path extrusionOk="0" h="1338606" w="5797485">
                <a:moveTo>
                  <a:pt x="5797485" y="0"/>
                </a:moveTo>
                <a:cubicBezTo>
                  <a:pt x="5515025" y="150645"/>
                  <a:pt x="5692389" y="75013"/>
                  <a:pt x="5165889" y="160256"/>
                </a:cubicBezTo>
                <a:cubicBezTo>
                  <a:pt x="4999627" y="187175"/>
                  <a:pt x="4832464" y="208350"/>
                  <a:pt x="4666268" y="235670"/>
                </a:cubicBezTo>
                <a:lnTo>
                  <a:pt x="3789576" y="386499"/>
                </a:lnTo>
                <a:lnTo>
                  <a:pt x="2922310" y="527901"/>
                </a:lnTo>
                <a:cubicBezTo>
                  <a:pt x="2793391" y="549388"/>
                  <a:pt x="2663842" y="567626"/>
                  <a:pt x="2535811" y="593889"/>
                </a:cubicBezTo>
                <a:lnTo>
                  <a:pt x="2168165" y="669303"/>
                </a:lnTo>
                <a:cubicBezTo>
                  <a:pt x="1932155" y="787307"/>
                  <a:pt x="2089193" y="720697"/>
                  <a:pt x="1781666" y="810705"/>
                </a:cubicBezTo>
                <a:cubicBezTo>
                  <a:pt x="1731113" y="825501"/>
                  <a:pt x="1680478" y="840224"/>
                  <a:pt x="1630837" y="857839"/>
                </a:cubicBezTo>
                <a:cubicBezTo>
                  <a:pt x="1582995" y="874815"/>
                  <a:pt x="1538059" y="899813"/>
                  <a:pt x="1489435" y="914400"/>
                </a:cubicBezTo>
                <a:cubicBezTo>
                  <a:pt x="1443395" y="928212"/>
                  <a:pt x="1395167" y="933253"/>
                  <a:pt x="1348033" y="942680"/>
                </a:cubicBezTo>
                <a:cubicBezTo>
                  <a:pt x="1058774" y="1058384"/>
                  <a:pt x="1363494" y="942474"/>
                  <a:pt x="1036949" y="1046375"/>
                </a:cubicBezTo>
                <a:cubicBezTo>
                  <a:pt x="1023558" y="1050636"/>
                  <a:pt x="1012573" y="1060785"/>
                  <a:pt x="999241" y="1065229"/>
                </a:cubicBezTo>
                <a:cubicBezTo>
                  <a:pt x="974659" y="1073423"/>
                  <a:pt x="948965" y="1077798"/>
                  <a:pt x="923827" y="1084082"/>
                </a:cubicBezTo>
                <a:cubicBezTo>
                  <a:pt x="904973" y="1096651"/>
                  <a:pt x="888483" y="1113834"/>
                  <a:pt x="867266" y="1121790"/>
                </a:cubicBezTo>
                <a:cubicBezTo>
                  <a:pt x="801749" y="1146359"/>
                  <a:pt x="669358" y="1146740"/>
                  <a:pt x="612743" y="1150070"/>
                </a:cubicBezTo>
                <a:cubicBezTo>
                  <a:pt x="597031" y="1153212"/>
                  <a:pt x="581413" y="1156863"/>
                  <a:pt x="565608" y="1159497"/>
                </a:cubicBezTo>
                <a:cubicBezTo>
                  <a:pt x="543691" y="1163150"/>
                  <a:pt x="521363" y="1164347"/>
                  <a:pt x="499621" y="1168924"/>
                </a:cubicBezTo>
                <a:cubicBezTo>
                  <a:pt x="461587" y="1176931"/>
                  <a:pt x="423787" y="1186237"/>
                  <a:pt x="386499" y="1197204"/>
                </a:cubicBezTo>
                <a:cubicBezTo>
                  <a:pt x="370265" y="1201979"/>
                  <a:pt x="355997" y="1212940"/>
                  <a:pt x="339365" y="1216058"/>
                </a:cubicBezTo>
                <a:cubicBezTo>
                  <a:pt x="305252" y="1222454"/>
                  <a:pt x="270235" y="1222342"/>
                  <a:pt x="235670" y="1225484"/>
                </a:cubicBezTo>
                <a:cubicBezTo>
                  <a:pt x="213674" y="1238053"/>
                  <a:pt x="192036" y="1251270"/>
                  <a:pt x="169683" y="1263192"/>
                </a:cubicBezTo>
                <a:cubicBezTo>
                  <a:pt x="144884" y="1276418"/>
                  <a:pt x="118670" y="1286955"/>
                  <a:pt x="94268" y="1300899"/>
                </a:cubicBezTo>
                <a:cubicBezTo>
                  <a:pt x="74594" y="1312141"/>
                  <a:pt x="37707" y="1338606"/>
                  <a:pt x="37707" y="1338606"/>
                </a:cubicBezTo>
                <a:cubicBezTo>
                  <a:pt x="5211" y="1327774"/>
                  <a:pt x="16453" y="1322153"/>
                  <a:pt x="0" y="1338606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"/>
          <p:cNvSpPr txBox="1"/>
          <p:nvPr/>
        </p:nvSpPr>
        <p:spPr>
          <a:xfrm>
            <a:off x="240083" y="114054"/>
            <a:ext cx="1100667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 dimensional RNN (MDRNN)</a:t>
            </a:r>
            <a:endParaRPr/>
          </a:p>
        </p:txBody>
      </p:sp>
      <p:pic>
        <p:nvPicPr>
          <p:cNvPr id="665" name="Google Shape;6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924" y="1080168"/>
            <a:ext cx="7220988" cy="39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8"/>
          <p:cNvSpPr txBox="1"/>
          <p:nvPr/>
        </p:nvSpPr>
        <p:spPr>
          <a:xfrm>
            <a:off x="2424642" y="5341878"/>
            <a:ext cx="734271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4-way spatial scanning (TL, TR, BL, BR) for a global receptive field.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Captures long-range dependencies better than local CNN kernels.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support for variable sizes without resizing or distortion.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trade-off: Slower than CNNs but richer spatial context.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9"/>
          <p:cNvSpPr txBox="1"/>
          <p:nvPr/>
        </p:nvSpPr>
        <p:spPr>
          <a:xfrm>
            <a:off x="640080" y="274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State Space Models (SSM) — Mamba (Gu &amp; Dao, 2023)</a:t>
            </a:r>
            <a:endParaRPr/>
          </a:p>
        </p:txBody>
      </p:sp>
      <p:sp>
        <p:nvSpPr>
          <p:cNvPr id="672" name="Google Shape;672;p39"/>
          <p:cNvSpPr txBox="1"/>
          <p:nvPr/>
        </p:nvSpPr>
        <p:spPr>
          <a:xfrm>
            <a:off x="640080" y="1005840"/>
            <a:ext cx="50292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Context (2024-2026)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RNN classical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 parallelization during training</a:t>
            </a:r>
            <a:endParaRPr b="0" i="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Transformers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attention O(L²) (inference), O(L) memory/token (KV-cache)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SSM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O(L) training, O(1) inference per token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Continuous equation (control theory)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h′(t) = A h(t) + B x(t)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     ← equation of state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y(t)  = C h(t)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            ← equation of output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Discretization (Zero-Order Hold)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solve h′ = Ah + Bx over [t, t+Δ] with x constant.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 of the diff eq gives 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Ā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t-1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ĀB x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C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 </a:t>
            </a: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Ā = exp(ΔA)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   </a:t>
            </a: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ĀB ≈ ΔB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(1st order approx.)</a:t>
            </a:r>
            <a:endParaRPr b="0" i="1" sz="12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200">
                <a:solidFill>
                  <a:srgbClr val="0050A0"/>
                </a:solidFill>
                <a:latin typeface="Calibri"/>
                <a:ea typeface="Calibri"/>
                <a:cs typeface="Calibri"/>
                <a:sym typeface="Calibri"/>
              </a:rPr>
              <a:t>→ Same form as a vanilla RNN 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200">
                <a:solidFill>
                  <a:srgbClr val="0050A0"/>
                </a:solidFill>
                <a:latin typeface="Calibri"/>
                <a:ea typeface="Calibri"/>
                <a:cs typeface="Calibri"/>
                <a:sym typeface="Calibri"/>
              </a:rPr>
              <a:t>but without activation function in the recurrence!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1" sz="12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6421539" y="3808561"/>
            <a:ext cx="5303520" cy="2775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Matrix Exponential</a:t>
            </a:r>
            <a:endParaRPr b="1" i="0" sz="1600">
              <a:solidFill>
                <a:srgbClr val="B4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Defined by: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exp(M) = I + M + M²/2! + M³/3! + …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(same formula as e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 for matrices)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is diagonalizable 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= P diag(λ₁,…,λₙ) P⁻¹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exp(A) = P diag(e^{λ₁},…,e^{λₙ}) P⁻¹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exp arises naturally from the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 eq , exactly as in 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physics/control systems (e.g.: discharge of a capacitor).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0"/>
          <p:cNvSpPr txBox="1"/>
          <p:nvPr/>
        </p:nvSpPr>
        <p:spPr>
          <a:xfrm>
            <a:off x="640080" y="274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Why SSM is parallelizable (and RNN is not)</a:t>
            </a:r>
            <a:endParaRPr/>
          </a:p>
        </p:txBody>
      </p:sp>
      <p:sp>
        <p:nvSpPr>
          <p:cNvPr id="679" name="Google Shape;679;p40"/>
          <p:cNvSpPr txBox="1"/>
          <p:nvPr/>
        </p:nvSpPr>
        <p:spPr>
          <a:xfrm>
            <a:off x="640080" y="1005840"/>
            <a:ext cx="50292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RNN classical — not composable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tanh(W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t-1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U x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cannot combine 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tanh(A₄·tanh(A₃·tanh(A₂·tanh(A₁·h₀))))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→ Sequential computation required</a:t>
            </a:r>
            <a:endParaRPr b="1" i="0" sz="1300">
              <a:solidFill>
                <a:srgbClr val="B4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tanh is not associative: we cannot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operations in a different order.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Associative  operator for the SSM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recurrence h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Ā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t-1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ĀB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="0" i="0"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written as</a:t>
            </a:r>
            <a:endParaRPr b="0" i="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operator ⊕ on pairs (a, b) 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(a₂, b₂) ⊕ (a₁, b₁) = (a₂·a₁,  a₂·b₁ + b₂)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</a:t>
            </a:r>
            <a:r>
              <a:rPr b="0" i="0" lang="fr-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Ā</a:t>
            </a:r>
            <a:r>
              <a:rPr b="0" i="0" lang="fr-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 b</a:t>
            </a:r>
            <a:r>
              <a:rPr b="0" i="0" lang="fr-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ĀB</a:t>
            </a:r>
            <a:r>
              <a:rPr b="0" i="0" lang="fr-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="0" i="0" lang="fr-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0"/>
          <p:cNvSpPr txBox="1"/>
          <p:nvPr/>
        </p:nvSpPr>
        <p:spPr>
          <a:xfrm>
            <a:off x="6035040" y="1005840"/>
            <a:ext cx="530352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SSM linear — associative ⇒ parallelizable</a:t>
            </a:r>
            <a:endParaRPr b="1" i="0" sz="1600">
              <a:solidFill>
                <a:srgbClr val="B4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Ā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t-1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ĀB x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1" lang="fr-FR" sz="13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   (no tanh!)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⊕ is associative, therefore 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(RNN) 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((e₁ ⊕ e₂) ⊕ e₃) ⊕ e₄</a:t>
            </a:r>
            <a:r>
              <a:rPr b="0" i="0" lang="fr-FR" sz="13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   → O(L) steps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(parallel scan) 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(e₁ ⊕ e₂) ⊕ (e₃ ⊕ e₄)</a:t>
            </a:r>
            <a:r>
              <a:rPr b="0" i="0" lang="fr-FR" sz="1300">
                <a:solidFill>
                  <a:srgbClr val="00783C"/>
                </a:solidFill>
                <a:latin typeface="Calibri"/>
                <a:ea typeface="Calibri"/>
                <a:cs typeface="Calibri"/>
                <a:sym typeface="Calibri"/>
              </a:rPr>
              <a:t>   → O(log L) steps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(Same principle as parallel cumulative sum)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fr-FR" sz="16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Where is the non-linearity of the model?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Moved </a:t>
            </a:r>
            <a:r>
              <a:rPr b="1" i="0" lang="fr-FR" sz="1300">
                <a:solidFill>
                  <a:srgbClr val="0050A0"/>
                </a:solidFill>
                <a:latin typeface="Calibri"/>
                <a:ea typeface="Calibri"/>
                <a:cs typeface="Calibri"/>
                <a:sym typeface="Calibri"/>
              </a:rPr>
              <a:t> outside the recurrence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Mamba block applies an activation (SiLU)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multiplicative gating </a:t>
            </a: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SSM.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The recurrence remains linear (parallelizable)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Non-linearity comes from stacking blocks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1"/>
          <p:cNvSpPr txBox="1"/>
          <p:nvPr/>
        </p:nvSpPr>
        <p:spPr>
          <a:xfrm>
            <a:off x="640080" y="274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Mamba — Selective State Space Model (S6)</a:t>
            </a:r>
            <a:endParaRPr/>
          </a:p>
        </p:txBody>
      </p:sp>
      <p:sp>
        <p:nvSpPr>
          <p:cNvPr id="686" name="Google Shape;686;p41"/>
          <p:cNvSpPr txBox="1"/>
          <p:nvPr/>
        </p:nvSpPr>
        <p:spPr>
          <a:xfrm>
            <a:off x="640080" y="914400"/>
            <a:ext cx="53035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S4 Problem: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A, B, C fixed for the entire sequence (LTI)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The model treats all tokens the same way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Mamba Innovation: B, C, Δ dependent on input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00783C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Linear(x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  what to inject into the state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00783C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Linear(x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  what to read from the state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00783C"/>
                </a:solidFill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softplus(Linear(x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 how much to retain/forget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remains fixed</a:t>
            </a:r>
            <a:r>
              <a:rPr b="0" i="1" lang="fr-FR" sz="12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 (learned parameter, constant over the sequence)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Discretization + Recurrence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Ā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exp(Δ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A)              ĀB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≈ Δ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fr-FR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fr-FR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Ā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t-1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ĀB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C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i="0" lang="fr-FR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</a:t>
            </a:r>
            <a:r>
              <a:rPr b="0" i="0" lang="fr-FR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/>
          </a:p>
        </p:txBody>
      </p:sp>
      <p:sp>
        <p:nvSpPr>
          <p:cNvPr id="687" name="Google Shape;687;p41"/>
          <p:cNvSpPr txBox="1"/>
          <p:nvPr/>
        </p:nvSpPr>
        <p:spPr>
          <a:xfrm>
            <a:off x="6035040" y="91440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Role of Δ (step size = the SSM "gate")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large</a:t>
            </a:r>
            <a:r>
              <a:rPr b="0" i="0" lang="fr-FR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Ā = exp(ΔA) ≈ 0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we </a:t>
            </a:r>
            <a:r>
              <a:rPr b="1" i="0" lang="fr-FR" sz="1300">
                <a:solidFill>
                  <a:srgbClr val="B40000"/>
                </a:solidFill>
                <a:latin typeface="Calibri"/>
                <a:ea typeface="Calibri"/>
                <a:cs typeface="Calibri"/>
                <a:sym typeface="Calibri"/>
              </a:rPr>
              <a:t>forget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state, we take the input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small</a:t>
            </a:r>
            <a:r>
              <a:rPr b="0" i="0" lang="fr-FR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Ā = exp(ΔA) ≈ I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we </a:t>
            </a:r>
            <a:r>
              <a:rPr b="1" i="0" lang="fr-FR" sz="1300">
                <a:solidFill>
                  <a:srgbClr val="00783C"/>
                </a:solidFill>
                <a:latin typeface="Calibri"/>
                <a:ea typeface="Calibri"/>
                <a:cs typeface="Calibri"/>
                <a:sym typeface="Calibri"/>
              </a:rPr>
              <a:t>preserve</a:t>
            </a: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state, we ignore the input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Continuous memory control, analogous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to the GRU gate, but via the exponential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has negative eigenvalues (learned).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exp(ΔA) has values between 0 and 1 : stable.</a:t>
            </a:r>
            <a:endParaRPr/>
          </a:p>
        </p:txBody>
      </p:sp>
      <p:pic>
        <p:nvPicPr>
          <p:cNvPr descr="Breakdown of a mamba block" id="688" name="Google Shape;6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8780" y="3813054"/>
            <a:ext cx="3909501" cy="2770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mba_ssm_schema.png" id="689" name="Google Shape;68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989" y="4199818"/>
            <a:ext cx="5045701" cy="252285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1"/>
          <p:cNvSpPr txBox="1"/>
          <p:nvPr/>
        </p:nvSpPr>
        <p:spPr>
          <a:xfrm>
            <a:off x="-985101" y="392549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-FR" sz="11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Selective State Space Model — diagram of selective SSM (source : Gu &amp; Dao, 2023)</a:t>
            </a:r>
            <a:endParaRPr/>
          </a:p>
        </p:txBody>
      </p:sp>
      <p:sp>
        <p:nvSpPr>
          <p:cNvPr id="691" name="Google Shape;691;p41"/>
          <p:cNvSpPr txBox="1"/>
          <p:nvPr/>
        </p:nvSpPr>
        <p:spPr>
          <a:xfrm>
            <a:off x="7898859" y="3551444"/>
            <a:ext cx="410664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-FR" sz="11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Complete Mamba block</a:t>
            </a:r>
            <a:endParaRPr b="0" i="1" sz="1100">
              <a:solidFill>
                <a:srgbClr val="787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2"/>
          <p:cNvSpPr txBox="1"/>
          <p:nvPr/>
        </p:nvSpPr>
        <p:spPr>
          <a:xfrm>
            <a:off x="3115882" y="1878037"/>
            <a:ext cx="61062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fr-FR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fr-FR" sz="18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https://keras.io/examples/nlp/bidirectional_lstm_imdb/</a:t>
            </a:r>
            <a:endParaRPr b="0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7" name="Google Shape;697;p42"/>
          <p:cNvSpPr txBox="1"/>
          <p:nvPr/>
        </p:nvSpPr>
        <p:spPr>
          <a:xfrm>
            <a:off x="3863486" y="521036"/>
            <a:ext cx="44650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code for natural language processing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3"/>
          <p:cNvSpPr txBox="1"/>
          <p:nvPr/>
        </p:nvSpPr>
        <p:spPr>
          <a:xfrm>
            <a:off x="3863486" y="207272"/>
            <a:ext cx="44650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(TP6)</a:t>
            </a:r>
            <a:endParaRPr/>
          </a:p>
        </p:txBody>
      </p:sp>
      <p:sp>
        <p:nvSpPr>
          <p:cNvPr id="703" name="Google Shape;703;p43"/>
          <p:cNvSpPr txBox="1"/>
          <p:nvPr/>
        </p:nvSpPr>
        <p:spPr>
          <a:xfrm>
            <a:off x="421039" y="741418"/>
            <a:ext cx="11035855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Conitune the previous lab on </a:t>
            </a:r>
            <a:r>
              <a:rPr i="0"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determining </a:t>
            </a:r>
            <a:r>
              <a:rPr b="0" i="0"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FHR baseline. One of the disadvantages of the previous method using CNN and U-NET is that it requires a fixed analysis time (set at 34 min). If we have longer signals, we could use sliding windows but it would create inconsistencies in the baseline </a:t>
            </a: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between two windows</a:t>
            </a:r>
            <a:r>
              <a:rPr b="0" i="0"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. We'd also like to facilitate generalization: if we have a 3 min deceleration and a 5 min deceleration in the baseline train, we'd like a new 4 min deceleration to be easily interpreted as a deceleration, which is difficult with CNNs.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We're now going to create a model using GRU. Is it a one-to-many, many-to-one, sync many-to-many or async many-to-many model?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Create a model using two bidirectional GRU layers with 12 and 8 states respectively, you may need to use the return_sequences=true parameter depending on the previous question.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After each of these two layers, add Dropout at 0.1.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Add a dense output layer of 16 neurons (activation relu) with a dropout at 0.2, then the dense output layer (1 neuron without activation).</a:t>
            </a:r>
            <a:endParaRPr b="1"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Why are there 24 channels at the output of the first bidirectional layer?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Train the model as last time and compare results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rille « Diamant » 16 x 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